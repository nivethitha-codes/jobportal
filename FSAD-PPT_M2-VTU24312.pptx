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3" r:id="rId11"/>
    <p:sldId id="274" r:id="rId12"/>
    <p:sldId id="275" r:id="rId13"/>
    <p:sldId id="266" r:id="rId14"/>
    <p:sldId id="269" r:id="rId15"/>
    <p:sldId id="267" r:id="rId16"/>
    <p:sldId id="272" r:id="rId17"/>
    <p:sldId id="268" r:id="rId18"/>
    <p:sldId id="276" r:id="rId19"/>
    <p:sldId id="278" r:id="rId20"/>
    <p:sldId id="277" r:id="rId21"/>
    <p:sldId id="279" r:id="rId22"/>
    <p:sldId id="270" r:id="rId23"/>
    <p:sldId id="271" r:id="rId24"/>
    <p:sldId id="280" r:id="rId25"/>
    <p:sldId id="265" r:id="rId26"/>
  </p:sldIdLst>
  <p:sldSz cx="18288000" cy="10287000"/>
  <p:notesSz cx="6858000" cy="9144000"/>
  <p:embeddedFontLst>
    <p:embeddedFont>
      <p:font typeface="Bookman Old Style" panose="02050604050505020204" pitchFamily="18"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Gotham" panose="020B0604020202020204" charset="0"/>
      <p:regular r:id="rId35"/>
    </p:embeddedFont>
    <p:embeddedFont>
      <p:font typeface="Gotham Bold Italics"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38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301589" y="-1268112"/>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67876" y="162963"/>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33500" y="1560547"/>
            <a:ext cx="15925800" cy="4585871"/>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 </a:t>
            </a:r>
          </a:p>
          <a:p>
            <a:pPr algn="ctr"/>
            <a:r>
              <a:rPr lang="en-US" sz="3200" b="1" dirty="0">
                <a:solidFill>
                  <a:srgbClr val="051D40"/>
                </a:solidFill>
                <a:latin typeface="Times New Roman" pitchFamily="18" charset="0"/>
                <a:ea typeface="Open Sans Extra Bold"/>
                <a:cs typeface="Times New Roman" pitchFamily="18" charset="0"/>
                <a:sym typeface="Open Sans Extra Bold"/>
              </a:rPr>
              <a:t>Academic Year – 2025-2026 (winter Semester) </a:t>
            </a:r>
          </a:p>
          <a:p>
            <a:pPr algn="ctr"/>
            <a:endParaRPr lang="en-US" sz="2900" b="1" dirty="0">
              <a:latin typeface="Cambria" panose="02040503050406030204" pitchFamily="18" charset="0"/>
              <a:ea typeface="Cambria" panose="02040503050406030204" pitchFamily="18" charset="0"/>
            </a:endParaRPr>
          </a:p>
          <a:p>
            <a:pPr algn="ctr"/>
            <a:endParaRPr lang="en-US" sz="3200" b="1" dirty="0">
              <a:latin typeface="Cambria" panose="02040503050406030204" pitchFamily="18" charset="0"/>
              <a:ea typeface="Cambria" panose="02040503050406030204" pitchFamily="18" charset="0"/>
            </a:endParaRPr>
          </a:p>
          <a:p>
            <a:pPr algn="ctr"/>
            <a:endParaRPr lang="en-US" sz="3200" b="1" dirty="0">
              <a:latin typeface="Cambria" panose="02040503050406030204" pitchFamily="18" charset="0"/>
              <a:ea typeface="Cambria" panose="02040503050406030204" pitchFamily="18" charset="0"/>
            </a:endParaRPr>
          </a:p>
          <a:p>
            <a:pPr algn="ctr"/>
            <a:endParaRPr lang="en-US" sz="3200" b="1" dirty="0">
              <a:latin typeface="Cambria" panose="02040503050406030204" pitchFamily="18" charset="0"/>
              <a:ea typeface="Cambria" panose="02040503050406030204" pitchFamily="18" charset="0"/>
            </a:endParaRPr>
          </a:p>
          <a:p>
            <a:pPr algn="ct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66331" y="3730600"/>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14506" y="4485221"/>
            <a:ext cx="11190289" cy="1200329"/>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:END SEMESTER VIVA VOCE </a:t>
            </a: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75138" y="5902446"/>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JOB PORTAL MANAGEMENT SYSTEM</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929965" y="7712401"/>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P.NIVETHITHA-VTU24312</a:t>
            </a:r>
          </a:p>
          <a:p>
            <a:pPr>
              <a:lnSpc>
                <a:spcPct val="150000"/>
              </a:lnSpc>
            </a:pPr>
            <a:r>
              <a:rPr lang="en-US" sz="3000" dirty="0">
                <a:latin typeface="Cambria" panose="02040503050406030204" pitchFamily="18" charset="0"/>
                <a:ea typeface="Cambria" panose="02040503050406030204" pitchFamily="18" charset="0"/>
              </a:rPr>
              <a:t>REG_NO-23UECS1157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515600" y="7785057"/>
            <a:ext cx="7344038" cy="207851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gn="just">
              <a:lnSpc>
                <a:spcPct val="150000"/>
              </a:lnSpc>
            </a:pPr>
            <a:r>
              <a:rPr lang="en-IN" sz="2800" dirty="0">
                <a:latin typeface="Times New Roman" panose="02020603050405020304" pitchFamily="18" charset="0"/>
                <a:cs typeface="Times New Roman" panose="02020603050405020304" pitchFamily="18" charset="0"/>
              </a:rPr>
              <a:t>Dr. NATTESHAN. N.V.S</a:t>
            </a:r>
          </a:p>
          <a:p>
            <a:pPr algn="just">
              <a:lnSpc>
                <a:spcPct val="150000"/>
              </a:lnSpc>
            </a:pPr>
            <a:r>
              <a:rPr lang="en-IN" sz="2800" dirty="0">
                <a:latin typeface="Times New Roman" panose="02020603050405020304" pitchFamily="18" charset="0"/>
                <a:ea typeface="Cambria" panose="02040503050406030204" pitchFamily="18" charset="0"/>
                <a:cs typeface="Times New Roman" panose="02020603050405020304" pitchFamily="18" charset="0"/>
              </a:rPr>
              <a:t>ASSISTANT PROFESSOR SENIOR GRADE</a:t>
            </a:r>
          </a:p>
        </p:txBody>
      </p:sp>
      <p:sp>
        <p:nvSpPr>
          <p:cNvPr id="16" name="TextBox 15">
            <a:extLst>
              <a:ext uri="{FF2B5EF4-FFF2-40B4-BE49-F238E27FC236}">
                <a16:creationId xmlns:a16="http://schemas.microsoft.com/office/drawing/2014/main" id="{A7AA51DE-E8D7-A1B4-BC0D-B25C8A0C467A}"/>
              </a:ext>
            </a:extLst>
          </p:cNvPr>
          <p:cNvSpPr txBox="1"/>
          <p:nvPr/>
        </p:nvSpPr>
        <p:spPr>
          <a:xfrm>
            <a:off x="913923" y="6955359"/>
            <a:ext cx="1474317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SDG No: 8 – Decent Work and Economic Growth</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685800" y="1737761"/>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976520" y="1737761"/>
            <a:ext cx="15295918" cy="14234153"/>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 today's fast-paced digital era, job searching and recruitment remain fragmented across multiple unorganized platforms</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Job seekers struggle to find relevant opportunities while employers face difficulty discovering and managing suitable candidates efficiently</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This creates a critical gap between talent and opportunity in the modern workforce</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 centralized, intelligent system is needed to simplify, automate, and modernize the entire hiring process</a:t>
            </a:r>
          </a:p>
          <a:p>
            <a:pPr marL="457200" indent="-457200" algn="just">
              <a:buFont typeface="Wingdings" panose="05000000000000000000" pitchFamily="2" charset="2"/>
              <a:buChar char="v"/>
            </a:pPr>
            <a:r>
              <a:rPr lang="en-US" sz="2800" b="1" dirty="0" err="1">
                <a:latin typeface="Times New Roman" panose="02020603050405020304" pitchFamily="18" charset="0"/>
                <a:cs typeface="Times New Roman" panose="02020603050405020304" pitchFamily="18" charset="0"/>
              </a:rPr>
              <a:t>JobSpark</a:t>
            </a:r>
            <a:r>
              <a:rPr lang="en-US" sz="2800" dirty="0">
                <a:latin typeface="Times New Roman" panose="02020603050405020304" pitchFamily="18" charset="0"/>
                <a:cs typeface="Times New Roman" panose="02020603050405020304" pitchFamily="18" charset="0"/>
              </a:rPr>
              <a:t> is a full-stack web-based Job Portal Management System that bridges this gap through a single unified platform</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The system allows students to register with </a:t>
            </a:r>
            <a:r>
              <a:rPr lang="en-US" sz="2800" b="1" dirty="0">
                <a:latin typeface="Times New Roman" panose="02020603050405020304" pitchFamily="18" charset="0"/>
                <a:cs typeface="Times New Roman" panose="02020603050405020304" pitchFamily="18" charset="0"/>
              </a:rPr>
              <a:t>Email OTP Verification</a:t>
            </a:r>
            <a:r>
              <a:rPr lang="en-US" sz="2800" dirty="0">
                <a:latin typeface="Times New Roman" panose="02020603050405020304" pitchFamily="18" charset="0"/>
                <a:cs typeface="Times New Roman" panose="02020603050405020304" pitchFamily="18" charset="0"/>
              </a:rPr>
              <a:t>, create profiles, upload resumes, and apply for jobs with cover letters</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Employers can post jobs with expiry deadlines, manage applications, view cover letters, download resumes, and shortlist candidates</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Automated </a:t>
            </a:r>
            <a:r>
              <a:rPr lang="en-US" sz="2800" b="1" dirty="0">
                <a:latin typeface="Times New Roman" panose="02020603050405020304" pitchFamily="18" charset="0"/>
                <a:cs typeface="Times New Roman" panose="02020603050405020304" pitchFamily="18" charset="0"/>
              </a:rPr>
              <a:t>Email Notifications</a:t>
            </a:r>
            <a:r>
              <a:rPr lang="en-US" sz="2800" dirty="0">
                <a:latin typeface="Times New Roman" panose="02020603050405020304" pitchFamily="18" charset="0"/>
                <a:cs typeface="Times New Roman" panose="02020603050405020304" pitchFamily="18" charset="0"/>
              </a:rPr>
              <a:t> keep candidates instantly informed when their application status changes</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Chatbot Assistant</a:t>
            </a:r>
            <a:r>
              <a:rPr lang="en-US" sz="2800" dirty="0">
                <a:latin typeface="Times New Roman" panose="02020603050405020304" pitchFamily="18" charset="0"/>
                <a:cs typeface="Times New Roman" panose="02020603050405020304" pitchFamily="18" charset="0"/>
              </a:rPr>
              <a:t> guides users throughout their job search journey</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Overall, </a:t>
            </a:r>
            <a:r>
              <a:rPr lang="en-US" sz="2800" dirty="0" err="1">
                <a:latin typeface="Times New Roman" panose="02020603050405020304" pitchFamily="18" charset="0"/>
                <a:cs typeface="Times New Roman" panose="02020603050405020304" pitchFamily="18" charset="0"/>
              </a:rPr>
              <a:t>JobSpark</a:t>
            </a:r>
            <a:r>
              <a:rPr lang="en-US" sz="2800" dirty="0">
                <a:latin typeface="Times New Roman" panose="02020603050405020304" pitchFamily="18" charset="0"/>
                <a:cs typeface="Times New Roman" panose="02020603050405020304" pitchFamily="18" charset="0"/>
              </a:rPr>
              <a:t> improves efficiency, transparency, security, and accessibility in the modern recruitment process</a:t>
            </a: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875368" y="2147939"/>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FA72482-3276-2A3C-E4D4-CF71A66239C9}"/>
              </a:ext>
            </a:extLst>
          </p:cNvPr>
          <p:cNvSpPr>
            <a:spLocks noChangeArrowheads="1"/>
          </p:cNvSpPr>
          <p:nvPr/>
        </p:nvSpPr>
        <p:spPr bwMode="auto">
          <a:xfrm>
            <a:off x="2362200" y="1803941"/>
            <a:ext cx="14554200" cy="560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job search and recruitment processes are not fully centralized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seekers rely on multiple platforms, causing confusion and inefficiency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Employers face difficulty in filtering and managing large numbers of applicants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tracking of applications leads to delays and errors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real-time updates affects communication between candidates and employers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proper system to track application status easily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management is not efficient or organized </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Hence, a need exists for a reliable, automated job portal system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838200" y="1943100"/>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438399" y="1943101"/>
            <a:ext cx="14325601" cy="1108082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To design and develop a web-based </a:t>
            </a:r>
            <a:r>
              <a:rPr lang="en-US" sz="3200" b="1" dirty="0">
                <a:latin typeface="Times New Roman" panose="02020603050405020304" pitchFamily="18" charset="0"/>
                <a:cs typeface="Times New Roman" panose="02020603050405020304" pitchFamily="18" charset="0"/>
              </a:rPr>
              <a:t>Job Portal Management System</a:t>
            </a:r>
            <a:r>
              <a:rPr lang="en-US" sz="3200" dirty="0">
                <a:latin typeface="Times New Roman" panose="02020603050405020304" pitchFamily="18" charset="0"/>
                <a:cs typeface="Times New Roman" panose="02020603050405020304" pitchFamily="18" charset="0"/>
              </a:rPr>
              <a:t> for job seekers and employers </a:t>
            </a:r>
          </a:p>
          <a:p>
            <a:pPr marL="514350" indent="-514350" algn="just">
              <a:lnSpc>
                <a:spcPct val="200000"/>
              </a:lnSpc>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To implement an efficient system for job posting, application tracking, and candidate management </a:t>
            </a:r>
          </a:p>
          <a:p>
            <a:pPr marL="514350" indent="-514350" algn="just">
              <a:lnSpc>
                <a:spcPct val="200000"/>
              </a:lnSpc>
              <a:buFont typeface="Wingdings" panose="05000000000000000000" pitchFamily="2" charset="2"/>
              <a:buChar char="q"/>
            </a:pPr>
            <a:endParaRPr lang="en-US" sz="3200" dirty="0">
              <a:latin typeface="Times New Roman" panose="02020603050405020304" pitchFamily="18" charset="0"/>
              <a:cs typeface="Times New Roman" panose="02020603050405020304" pitchFamily="18" charset="0"/>
            </a:endParaRPr>
          </a:p>
          <a:p>
            <a:pPr marL="514350" indent="-514350" algn="just">
              <a:lnSpc>
                <a:spcPct val="200000"/>
              </a:lnSpc>
              <a:buFont typeface="Wingdings" panose="05000000000000000000" pitchFamily="2" charset="2"/>
              <a:buChar char="q"/>
            </a:pPr>
            <a:endParaRPr lang="en-US" sz="3200" dirty="0">
              <a:latin typeface="Times New Roman" panose="02020603050405020304" pitchFamily="18" charset="0"/>
              <a:cs typeface="Times New Roman" panose="02020603050405020304" pitchFamily="18" charset="0"/>
            </a:endParaRPr>
          </a:p>
          <a:p>
            <a:pPr marL="514350" indent="-514350" algn="just">
              <a:lnSpc>
                <a:spcPct val="200000"/>
              </a:lnSpc>
              <a:buFont typeface="Wingdings" panose="05000000000000000000" pitchFamily="2" charset="2"/>
              <a:buChar char="q"/>
            </a:pPr>
            <a:endParaRPr lang="en-US" sz="3200" dirty="0">
              <a:latin typeface="Times New Roman" panose="02020603050405020304" pitchFamily="18" charset="0"/>
              <a:cs typeface="Times New Roman" panose="02020603050405020304" pitchFamily="18" charset="0"/>
            </a:endParaRPr>
          </a:p>
          <a:p>
            <a:pPr marL="514350" indent="-514350" algn="just">
              <a:lnSpc>
                <a:spcPct val="200000"/>
              </a:lnSpc>
              <a:buFont typeface="Wingdings" panose="05000000000000000000" pitchFamily="2" charset="2"/>
              <a:buChar char="q"/>
            </a:pPr>
            <a:endParaRPr lang="en-US" sz="3200" dirty="0">
              <a:latin typeface="Times New Roman" panose="02020603050405020304" pitchFamily="18" charset="0"/>
              <a:cs typeface="Times New Roman" panose="02020603050405020304" pitchFamily="18" charset="0"/>
            </a:endParaRPr>
          </a:p>
          <a:p>
            <a:pPr marL="514350" indent="-514350" algn="just">
              <a:lnSpc>
                <a:spcPct val="200000"/>
              </a:lnSpc>
              <a:buFont typeface="Wingdings" panose="05000000000000000000" pitchFamily="2" charset="2"/>
              <a:buChar char="q"/>
            </a:pPr>
            <a:endParaRPr lang="en-US" sz="3200" dirty="0">
              <a:latin typeface="Times New Roman" panose="02020603050405020304" pitchFamily="18" charset="0"/>
              <a:cs typeface="Times New Roman" panose="02020603050405020304" pitchFamily="18" charset="0"/>
            </a:endParaRPr>
          </a:p>
          <a:p>
            <a:pPr marL="514350" indent="-514350" algn="just">
              <a:lnSpc>
                <a:spcPct val="200000"/>
              </a:lnSpc>
              <a:buFont typeface="Wingdings" panose="05000000000000000000" pitchFamily="2" charset="2"/>
              <a:buChar char="q"/>
            </a:pPr>
            <a:endParaRPr lang="en-US" sz="3200" dirty="0">
              <a:latin typeface="Times New Roman" panose="02020603050405020304" pitchFamily="18" charset="0"/>
              <a:cs typeface="Times New Roman" panose="02020603050405020304" pitchFamily="18" charset="0"/>
            </a:endParaRPr>
          </a:p>
          <a:p>
            <a:pPr marL="514350" indent="-514350" algn="just">
              <a:lnSpc>
                <a:spcPct val="200000"/>
              </a:lnSpc>
              <a:buFont typeface="Wingdings" panose="05000000000000000000" pitchFamily="2" charset="2"/>
              <a:buChar char="q"/>
            </a:pP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685800" y="1638300"/>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4953" cy="4832092"/>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Rectangle 2">
            <a:extLst>
              <a:ext uri="{FF2B5EF4-FFF2-40B4-BE49-F238E27FC236}">
                <a16:creationId xmlns:a16="http://schemas.microsoft.com/office/drawing/2014/main" id="{520264F2-D1AC-5890-3F44-30FE80805DF7}"/>
              </a:ext>
            </a:extLst>
          </p:cNvPr>
          <p:cNvSpPr>
            <a:spLocks noChangeArrowheads="1"/>
          </p:cNvSpPr>
          <p:nvPr/>
        </p:nvSpPr>
        <p:spPr bwMode="auto">
          <a:xfrm>
            <a:off x="1981200" y="1641555"/>
            <a:ext cx="15082325" cy="7786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Wingdings" panose="05000000000000000000" pitchFamily="2" charset="2"/>
              <a:buChar char="q"/>
            </a:pPr>
            <a:r>
              <a:rPr lang="en-US" sz="2500" dirty="0" err="1">
                <a:latin typeface="Times New Roman" panose="02020603050405020304" pitchFamily="18" charset="0"/>
                <a:cs typeface="Times New Roman" panose="02020603050405020304" pitchFamily="18" charset="0"/>
              </a:rPr>
              <a:t>JobSpark</a:t>
            </a:r>
            <a:r>
              <a:rPr lang="en-US" sz="2500" dirty="0">
                <a:latin typeface="Times New Roman" panose="02020603050405020304" pitchFamily="18" charset="0"/>
                <a:cs typeface="Times New Roman" panose="02020603050405020304" pitchFamily="18" charset="0"/>
              </a:rPr>
              <a:t> is a centralized full-stack web-based Job Portal Management System built using Java Spring Boot and MySQL</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Provides a single unified platform for Job Seekers, Employers, and Administrators with role-based secure access control</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New users register through a </a:t>
            </a:r>
            <a:r>
              <a:rPr lang="en-US" sz="2500" b="1" dirty="0">
                <a:latin typeface="Times New Roman" panose="02020603050405020304" pitchFamily="18" charset="0"/>
                <a:cs typeface="Times New Roman" panose="02020603050405020304" pitchFamily="18" charset="0"/>
              </a:rPr>
              <a:t>2-Step Email OTP Verification</a:t>
            </a:r>
            <a:r>
              <a:rPr lang="en-US" sz="2500" dirty="0">
                <a:latin typeface="Times New Roman" panose="02020603050405020304" pitchFamily="18" charset="0"/>
                <a:cs typeface="Times New Roman" panose="02020603050405020304" pitchFamily="18" charset="0"/>
              </a:rPr>
              <a:t> system ensuring only valid email addresses can create accounts</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Students can build complete profiles, upload resume PDFs, bookmark interesting jobs, and apply with personalized cover letters</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Employers can post jobs with application deadlines, edit existing listings, view cover letters in popup modals, and download resumes directly</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Automated </a:t>
            </a:r>
            <a:r>
              <a:rPr lang="en-US" sz="2500" b="1" dirty="0">
                <a:latin typeface="Times New Roman" panose="02020603050405020304" pitchFamily="18" charset="0"/>
                <a:cs typeface="Times New Roman" panose="02020603050405020304" pitchFamily="18" charset="0"/>
              </a:rPr>
              <a:t>Gmail SMTP Email Notifications</a:t>
            </a:r>
            <a:r>
              <a:rPr lang="en-US" sz="2500" dirty="0">
                <a:latin typeface="Times New Roman" panose="02020603050405020304" pitchFamily="18" charset="0"/>
                <a:cs typeface="Times New Roman" panose="02020603050405020304" pitchFamily="18" charset="0"/>
              </a:rPr>
              <a:t> are sent instantly to students whenever their application is shortlisted or rejected</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A powerful </a:t>
            </a:r>
            <a:r>
              <a:rPr lang="en-US" sz="2500" b="1" dirty="0">
                <a:latin typeface="Times New Roman" panose="02020603050405020304" pitchFamily="18" charset="0"/>
                <a:cs typeface="Times New Roman" panose="02020603050405020304" pitchFamily="18" charset="0"/>
              </a:rPr>
              <a:t>Search Engine with Autocomplete</a:t>
            </a:r>
            <a:r>
              <a:rPr lang="en-US" sz="2500" dirty="0">
                <a:latin typeface="Times New Roman" panose="02020603050405020304" pitchFamily="18" charset="0"/>
                <a:cs typeface="Times New Roman" panose="02020603050405020304" pitchFamily="18" charset="0"/>
              </a:rPr>
              <a:t> allows students to find jobs by keyword, category, location, and experience level</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Role-specific dashboards display real-time </a:t>
            </a:r>
            <a:r>
              <a:rPr lang="en-US" sz="2500" b="1" dirty="0">
                <a:latin typeface="Times New Roman" panose="02020603050405020304" pitchFamily="18" charset="0"/>
                <a:cs typeface="Times New Roman" panose="02020603050405020304" pitchFamily="18" charset="0"/>
              </a:rPr>
              <a:t>Chart.js Analytics</a:t>
            </a:r>
            <a:r>
              <a:rPr lang="en-US" sz="2500" dirty="0">
                <a:latin typeface="Times New Roman" panose="02020603050405020304" pitchFamily="18" charset="0"/>
                <a:cs typeface="Times New Roman" panose="02020603050405020304" pitchFamily="18" charset="0"/>
              </a:rPr>
              <a:t> showing application stats, job summaries, and platform overview</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An intelligent </a:t>
            </a:r>
            <a:r>
              <a:rPr lang="en-US" sz="2500" b="1" dirty="0">
                <a:latin typeface="Times New Roman" panose="02020603050405020304" pitchFamily="18" charset="0"/>
                <a:cs typeface="Times New Roman" panose="02020603050405020304" pitchFamily="18" charset="0"/>
              </a:rPr>
              <a:t>AI Chatbot Assistant</a:t>
            </a:r>
            <a:r>
              <a:rPr lang="en-US" sz="2500" dirty="0">
                <a:latin typeface="Times New Roman" panose="02020603050405020304" pitchFamily="18" charset="0"/>
                <a:cs typeface="Times New Roman" panose="02020603050405020304" pitchFamily="18" charset="0"/>
              </a:rPr>
              <a:t> is embedded on every page to guide users with job search tips, resume advice, and interview preparation</a:t>
            </a:r>
          </a:p>
          <a:p>
            <a:pPr marL="342900" indent="-342900" algn="just">
              <a:buFont typeface="Wingdings" panose="05000000000000000000" pitchFamily="2" charset="2"/>
              <a:buChar char="q"/>
            </a:pPr>
            <a:r>
              <a:rPr lang="en-US" sz="2500" dirty="0">
                <a:latin typeface="Times New Roman" panose="02020603050405020304" pitchFamily="18" charset="0"/>
                <a:cs typeface="Times New Roman" panose="02020603050405020304" pitchFamily="18" charset="0"/>
              </a:rPr>
              <a:t>Admin panel provides complete platform control including user management, delete spam accounts, monitor all jobs and applications with detailed analytics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685800" y="2210022"/>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53376"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5</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6297701" y="4533900"/>
            <a:ext cx="10994424"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2" name="TextBox 31">
            <a:extLst>
              <a:ext uri="{FF2B5EF4-FFF2-40B4-BE49-F238E27FC236}">
                <a16:creationId xmlns:a16="http://schemas.microsoft.com/office/drawing/2014/main" id="{CD7A42E8-6C83-76CC-8DBF-2398A18E500F}"/>
              </a:ext>
            </a:extLst>
          </p:cNvPr>
          <p:cNvSpPr txBox="1"/>
          <p:nvPr/>
        </p:nvSpPr>
        <p:spPr>
          <a:xfrm>
            <a:off x="1876170" y="2210022"/>
            <a:ext cx="13775670" cy="452431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Input</a:t>
            </a:r>
            <a:endParaRPr lang="en-IN" sz="24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User data (registration, login details)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Job search queries and filters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Resume uploads and job applications </a:t>
            </a:r>
          </a:p>
          <a:p>
            <a:r>
              <a:rPr lang="en-IN" sz="2400" b="1" dirty="0">
                <a:latin typeface="Times New Roman" panose="02020603050405020304" pitchFamily="18" charset="0"/>
                <a:cs typeface="Times New Roman" panose="02020603050405020304" pitchFamily="18" charset="0"/>
              </a:rPr>
              <a:t>Processing</a:t>
            </a:r>
            <a:endParaRPr lang="en-IN" sz="24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Request handling using Spring Boot Controllers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Business logic implemented in Service Layer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Validation, authentication, and data processing </a:t>
            </a:r>
          </a:p>
          <a:p>
            <a:r>
              <a:rPr lang="en-IN" sz="2400" b="1" dirty="0">
                <a:latin typeface="Times New Roman" panose="02020603050405020304" pitchFamily="18" charset="0"/>
                <a:cs typeface="Times New Roman" panose="02020603050405020304" pitchFamily="18" charset="0"/>
              </a:rPr>
              <a:t>Database</a:t>
            </a:r>
            <a:endParaRPr lang="en-IN" sz="24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MySQL database for storing system data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Tables: User, Job, Application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Efficient data retrieval using Spring Data JPA</a:t>
            </a:r>
          </a:p>
        </p:txBody>
      </p:sp>
      <p:pic>
        <p:nvPicPr>
          <p:cNvPr id="34" name="Picture 33">
            <a:extLst>
              <a:ext uri="{FF2B5EF4-FFF2-40B4-BE49-F238E27FC236}">
                <a16:creationId xmlns:a16="http://schemas.microsoft.com/office/drawing/2014/main" id="{A0475576-EC84-6903-9B02-4DF801B324AB}"/>
              </a:ext>
            </a:extLst>
          </p:cNvPr>
          <p:cNvPicPr>
            <a:picLocks noChangeAspect="1"/>
          </p:cNvPicPr>
          <p:nvPr/>
        </p:nvPicPr>
        <p:blipFill>
          <a:blip r:embed="rId3"/>
          <a:stretch>
            <a:fillRect/>
          </a:stretch>
        </p:blipFill>
        <p:spPr>
          <a:xfrm>
            <a:off x="8798164" y="1480393"/>
            <a:ext cx="9269119" cy="83164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1143000" y="1638300"/>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889B705-D8F1-65F1-F8EE-F887D1508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5633" y="3141835"/>
            <a:ext cx="14957560" cy="43415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513791" y="1333500"/>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133601" y="1333500"/>
            <a:ext cx="14706600" cy="8586966"/>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Frontend:</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HTML5, CSS3 </a:t>
            </a: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Thymeleaf</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JavaScript (ES6) </a:t>
            </a:r>
          </a:p>
          <a:p>
            <a:pPr marL="342900" indent="-34290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Backend:</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Java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Boot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MVC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Security </a:t>
            </a:r>
          </a:p>
          <a:p>
            <a:pPr marL="342900" indent="-34290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Database:</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MySQL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Data JPA (Hibernate) </a:t>
            </a:r>
          </a:p>
          <a:p>
            <a:pPr marL="342900" indent="-34290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Tools: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Eclipse IDE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a:t>
            </a:r>
            <a:r>
              <a:rPr lang="en-IN" sz="2400" dirty="0" err="1">
                <a:latin typeface="Times New Roman" panose="02020603050405020304" pitchFamily="18" charset="0"/>
                <a:cs typeface="Times New Roman" panose="02020603050405020304" pitchFamily="18" charset="0"/>
              </a:rPr>
              <a:t>Initializr</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Git (Version Control)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Postman (API Testing) </a:t>
            </a:r>
          </a:p>
          <a:p>
            <a:pPr marL="342900" indent="-34290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Hardware/Software Requirements: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OS: Windows/Linux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Minimum 4GB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JDK 17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MySQL Server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Web Browser (Chrome/Edge)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8071432" y="-278685"/>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564737" y="1971485"/>
            <a:ext cx="15605933" cy="6494085"/>
          </a:xfrm>
          <a:prstGeom prst="rect">
            <a:avLst/>
          </a:prstGeom>
          <a:noFill/>
        </p:spPr>
        <p:txBody>
          <a:bodyPr wrap="square" rtlCol="0">
            <a:spAutoFit/>
          </a:bodyPr>
          <a:lstStyle/>
          <a:p>
            <a:pPr marL="457200" indent="-457200" algn="just">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1: User Management</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Handles user registration, login, and profile management with role-based authentication for Students, Employers, and Admins using Spring Security and </a:t>
            </a:r>
            <a:r>
              <a:rPr lang="en-US" sz="3200" dirty="0" err="1">
                <a:latin typeface="Times New Roman" panose="02020603050405020304" pitchFamily="18" charset="0"/>
                <a:cs typeface="Times New Roman" panose="02020603050405020304" pitchFamily="18" charset="0"/>
              </a:rPr>
              <a:t>BCrypt</a:t>
            </a:r>
            <a:r>
              <a:rPr lang="en-US" sz="3200" dirty="0">
                <a:latin typeface="Times New Roman" panose="02020603050405020304" pitchFamily="18" charset="0"/>
                <a:cs typeface="Times New Roman" panose="02020603050405020304" pitchFamily="18" charset="0"/>
              </a:rPr>
              <a:t> password hashing.</a:t>
            </a:r>
          </a:p>
          <a:p>
            <a:pPr marL="457200" indent="-457200" algn="just">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2: Job Management</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Implements core job posting functionality allowing employers to create, edit, and delete job listings with details like title, description, skills required, salary, location, and experience level.</a:t>
            </a:r>
          </a:p>
          <a:p>
            <a:pPr marL="457200" indent="-457200" algn="just">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3: Application Processing</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Manages the end-to-end job application workflow where students can apply with cover letters, and employers can shortlist or reject candidates with real-time status updates.</a:t>
            </a:r>
          </a:p>
          <a:p>
            <a:pPr marL="457200" indent="-457200" algn="just">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4: Resume &amp; File Management</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Handles secure resume uploads using Spring </a:t>
            </a:r>
            <a:r>
              <a:rPr lang="en-US" sz="3200" dirty="0" err="1">
                <a:latin typeface="Times New Roman" panose="02020603050405020304" pitchFamily="18" charset="0"/>
                <a:cs typeface="Times New Roman" panose="02020603050405020304" pitchFamily="18" charset="0"/>
              </a:rPr>
              <a:t>MultipartFile</a:t>
            </a:r>
            <a:r>
              <a:rPr lang="en-US" sz="3200" dirty="0">
                <a:latin typeface="Times New Roman" panose="02020603050405020304" pitchFamily="18" charset="0"/>
                <a:cs typeface="Times New Roman" panose="02020603050405020304" pitchFamily="18" charset="0"/>
              </a:rPr>
              <a:t>, storing files in the local server directory and linking them to student profiles for employer access.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AB1CFAFA-FDD7-CD80-7E99-B8A09DF1BCED}"/>
            </a:ext>
          </a:extLst>
        </p:cNvPr>
        <p:cNvGrpSpPr/>
        <p:nvPr/>
      </p:nvGrpSpPr>
      <p:grpSpPr>
        <a:xfrm>
          <a:off x="0" y="0"/>
          <a:ext cx="0" cy="0"/>
          <a:chOff x="0" y="0"/>
          <a:chExt cx="0" cy="0"/>
        </a:xfrm>
      </p:grpSpPr>
      <p:sp>
        <p:nvSpPr>
          <p:cNvPr id="34" name="Freeform 34">
            <a:extLst>
              <a:ext uri="{FF2B5EF4-FFF2-40B4-BE49-F238E27FC236}">
                <a16:creationId xmlns:a16="http://schemas.microsoft.com/office/drawing/2014/main" id="{BCCCE069-0E88-0365-37D6-4F1BC3F7DDC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F53CA59-1B72-CCA3-8A8E-E17F968A9761}"/>
              </a:ext>
            </a:extLst>
          </p:cNvPr>
          <p:cNvGrpSpPr/>
          <p:nvPr/>
        </p:nvGrpSpPr>
        <p:grpSpPr>
          <a:xfrm>
            <a:off x="14249400" y="0"/>
            <a:ext cx="10994424" cy="10994424"/>
            <a:chOff x="0" y="0"/>
            <a:chExt cx="812800" cy="812800"/>
          </a:xfrm>
        </p:grpSpPr>
        <p:sp>
          <p:nvSpPr>
            <p:cNvPr id="36" name="Freeform 36">
              <a:extLst>
                <a:ext uri="{FF2B5EF4-FFF2-40B4-BE49-F238E27FC236}">
                  <a16:creationId xmlns:a16="http://schemas.microsoft.com/office/drawing/2014/main" id="{CEF295A3-07C6-60B6-AB1F-A076A3A790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99C9997-3D38-27CE-4D30-D78E728D93C5}"/>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7D2E364-198A-BDD2-880A-728A947BE1D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8F9A4E20-0CB7-25C3-A26A-3669B8D89D3E}"/>
              </a:ext>
            </a:extLst>
          </p:cNvPr>
          <p:cNvSpPr txBox="1"/>
          <p:nvPr/>
        </p:nvSpPr>
        <p:spPr>
          <a:xfrm>
            <a:off x="1430388" y="1483994"/>
            <a:ext cx="16822443" cy="7478970"/>
          </a:xfrm>
          <a:prstGeom prst="rect">
            <a:avLst/>
          </a:prstGeom>
          <a:noFill/>
        </p:spPr>
        <p:txBody>
          <a:bodyPr wrap="square" rtlCol="0">
            <a:spAutoFit/>
          </a:bodyPr>
          <a:lstStyle/>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5: Search &amp; Filter Engine</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dynamic job search and filtering by keyword, category, location, and experience level using custom JPQL queries with Spring Data JPA repository methods.</a:t>
            </a:r>
          </a:p>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6: Dashboard &amp; Analytics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Generates role-specific dashboards displaying application statistics, job posting summaries, shortlisted candidates count, and activity tracking for Students, Employers, and Admins.</a:t>
            </a:r>
          </a:p>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7: Database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Manages structured data storage using MySQL with Spring Data JPA entities — User, Job, and Application — with One-to-Many and Many-to-One relational mappings.</a:t>
            </a:r>
          </a:p>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8: Security &amp; Access Control</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Implements Spring Security filter chains with role-based URL access control, CSRF protection, custom login/logout handling, and session management for all user roles.</a:t>
            </a:r>
          </a:p>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Module 9: Exception Handling &amp; Validation</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global exception handling using @ControllerAdvice with user-friendly error pages, and input validation using @NotBlank, @Email, and @Size annotations across all forms.</a:t>
            </a:r>
          </a:p>
        </p:txBody>
      </p:sp>
    </p:spTree>
    <p:extLst>
      <p:ext uri="{BB962C8B-B14F-4D97-AF65-F5344CB8AC3E}">
        <p14:creationId xmlns:p14="http://schemas.microsoft.com/office/powerpoint/2010/main" val="1115335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2FA4091F-C537-D481-14EF-A14874B7951F}"/>
            </a:ext>
          </a:extLst>
        </p:cNvPr>
        <p:cNvGrpSpPr/>
        <p:nvPr/>
      </p:nvGrpSpPr>
      <p:grpSpPr>
        <a:xfrm>
          <a:off x="0" y="0"/>
          <a:ext cx="0" cy="0"/>
          <a:chOff x="0" y="0"/>
          <a:chExt cx="0" cy="0"/>
        </a:xfrm>
      </p:grpSpPr>
      <p:sp>
        <p:nvSpPr>
          <p:cNvPr id="34" name="Freeform 34">
            <a:extLst>
              <a:ext uri="{FF2B5EF4-FFF2-40B4-BE49-F238E27FC236}">
                <a16:creationId xmlns:a16="http://schemas.microsoft.com/office/drawing/2014/main" id="{F58990FA-AD02-81C9-E6F3-3200795CD21C}"/>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9FA9D2C4-0F7F-DE18-C610-A45FBD880BB4}"/>
              </a:ext>
            </a:extLst>
          </p:cNvPr>
          <p:cNvGrpSpPr/>
          <p:nvPr/>
        </p:nvGrpSpPr>
        <p:grpSpPr>
          <a:xfrm>
            <a:off x="14249400" y="0"/>
            <a:ext cx="10994424" cy="10994424"/>
            <a:chOff x="0" y="0"/>
            <a:chExt cx="812800" cy="812800"/>
          </a:xfrm>
        </p:grpSpPr>
        <p:sp>
          <p:nvSpPr>
            <p:cNvPr id="36" name="Freeform 36">
              <a:extLst>
                <a:ext uri="{FF2B5EF4-FFF2-40B4-BE49-F238E27FC236}">
                  <a16:creationId xmlns:a16="http://schemas.microsoft.com/office/drawing/2014/main" id="{BC6467E0-4933-DFC3-656C-B2F23BF738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A6CC7DE0-FE5D-D4F5-5474-2E0E4177674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600AD00-2D21-1C20-B9DC-52168EE4837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INNOVATIVE MODULE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53AF3AA4-1727-9748-80BF-B009BC0EFF95}"/>
              </a:ext>
            </a:extLst>
          </p:cNvPr>
          <p:cNvSpPr txBox="1"/>
          <p:nvPr/>
        </p:nvSpPr>
        <p:spPr>
          <a:xfrm>
            <a:off x="694678" y="1909375"/>
            <a:ext cx="16822443" cy="7971413"/>
          </a:xfrm>
          <a:prstGeom prst="rect">
            <a:avLst/>
          </a:prstGeom>
          <a:noFill/>
        </p:spPr>
        <p:txBody>
          <a:bodyPr wrap="square" rtlCol="0">
            <a:spAutoFit/>
          </a:bodyPr>
          <a:lstStyle/>
          <a:p>
            <a:pPr algn="just"/>
            <a:r>
              <a:rPr lang="en-US" sz="3200" b="1" dirty="0">
                <a:latin typeface="Times New Roman" panose="02020603050405020304" pitchFamily="18" charset="0"/>
                <a:cs typeface="Times New Roman" panose="02020603050405020304" pitchFamily="18" charset="0"/>
              </a:rPr>
              <a:t>🔐 Module 1 — Email OTP Verification System</a:t>
            </a:r>
          </a:p>
          <a:p>
            <a:pPr algn="just"/>
            <a:r>
              <a:rPr lang="en-US" sz="3200" dirty="0">
                <a:latin typeface="Times New Roman" panose="02020603050405020304" pitchFamily="18" charset="0"/>
                <a:cs typeface="Times New Roman" panose="02020603050405020304" pitchFamily="18" charset="0"/>
              </a:rPr>
              <a:t>New users receive a </a:t>
            </a:r>
            <a:r>
              <a:rPr lang="en-US" sz="3200" b="1" dirty="0">
                <a:latin typeface="Times New Roman" panose="02020603050405020304" pitchFamily="18" charset="0"/>
                <a:cs typeface="Times New Roman" panose="02020603050405020304" pitchFamily="18" charset="0"/>
              </a:rPr>
              <a:t>6-digit One Time Password</a:t>
            </a:r>
            <a:r>
              <a:rPr lang="en-US" sz="3200" dirty="0">
                <a:latin typeface="Times New Roman" panose="02020603050405020304" pitchFamily="18" charset="0"/>
                <a:cs typeface="Times New Roman" panose="02020603050405020304" pitchFamily="18" charset="0"/>
              </a:rPr>
              <a:t> on their registered email during registration ensuring only genuine users can create accounts. OTP expires automatically after </a:t>
            </a:r>
            <a:r>
              <a:rPr lang="en-US" sz="3200" b="1" dirty="0">
                <a:latin typeface="Times New Roman" panose="02020603050405020304" pitchFamily="18" charset="0"/>
                <a:cs typeface="Times New Roman" panose="02020603050405020304" pitchFamily="18" charset="0"/>
              </a:rPr>
              <a:t>5 minutes</a:t>
            </a:r>
            <a:r>
              <a:rPr lang="en-US" sz="3200" dirty="0">
                <a:latin typeface="Times New Roman" panose="02020603050405020304" pitchFamily="18" charset="0"/>
                <a:cs typeface="Times New Roman" panose="02020603050405020304" pitchFamily="18" charset="0"/>
              </a:rPr>
              <a:t> for security. Built using Spring Mail, </a:t>
            </a:r>
            <a:r>
              <a:rPr lang="en-US" sz="3200" dirty="0" err="1">
                <a:latin typeface="Times New Roman" panose="02020603050405020304" pitchFamily="18" charset="0"/>
                <a:cs typeface="Times New Roman" panose="02020603050405020304" pitchFamily="18" charset="0"/>
              </a:rPr>
              <a:t>OtpService</a:t>
            </a:r>
            <a:r>
              <a:rPr lang="en-US" sz="3200" dirty="0">
                <a:latin typeface="Times New Roman" panose="02020603050405020304" pitchFamily="18" charset="0"/>
                <a:cs typeface="Times New Roman" panose="02020603050405020304" pitchFamily="18" charset="0"/>
              </a:rPr>
              <a:t> with </a:t>
            </a:r>
            <a:r>
              <a:rPr lang="en-US" sz="3200" dirty="0" err="1">
                <a:latin typeface="Times New Roman" panose="02020603050405020304" pitchFamily="18" charset="0"/>
                <a:cs typeface="Times New Roman" panose="02020603050405020304" pitchFamily="18" charset="0"/>
              </a:rPr>
              <a:t>ConcurrentHashMap</a:t>
            </a:r>
            <a:r>
              <a:rPr lang="en-US" sz="3200" dirty="0">
                <a:latin typeface="Times New Roman" panose="02020603050405020304" pitchFamily="18" charset="0"/>
                <a:cs typeface="Times New Roman" panose="02020603050405020304" pitchFamily="18" charset="0"/>
              </a:rPr>
              <a:t> storage, and beautiful HTML email templates.</a:t>
            </a:r>
          </a:p>
          <a:p>
            <a:pPr algn="just"/>
            <a:endParaRPr lang="en-US" sz="3200" dirty="0">
              <a:latin typeface="Times New Roman" panose="02020603050405020304" pitchFamily="18" charset="0"/>
              <a:cs typeface="Times New Roman" panose="02020603050405020304" pitchFamily="18" charset="0"/>
            </a:endParaRPr>
          </a:p>
          <a:p>
            <a:pPr algn="just"/>
            <a:r>
              <a:rPr lang="en-US" sz="3200" b="1" dirty="0">
                <a:latin typeface="Times New Roman" panose="02020603050405020304" pitchFamily="18" charset="0"/>
                <a:cs typeface="Times New Roman" panose="02020603050405020304" pitchFamily="18" charset="0"/>
              </a:rPr>
              <a:t>📧 Module 2 — Automated Email Notification System</a:t>
            </a:r>
          </a:p>
          <a:p>
            <a:pPr algn="just"/>
            <a:r>
              <a:rPr lang="en-US" sz="3200" dirty="0">
                <a:latin typeface="Times New Roman" panose="02020603050405020304" pitchFamily="18" charset="0"/>
                <a:cs typeface="Times New Roman" panose="02020603050405020304" pitchFamily="18" charset="0"/>
              </a:rPr>
              <a:t>When an employer changes a student's application status to </a:t>
            </a:r>
            <a:r>
              <a:rPr lang="en-US" sz="3200" b="1" dirty="0">
                <a:latin typeface="Times New Roman" panose="02020603050405020304" pitchFamily="18" charset="0"/>
                <a:cs typeface="Times New Roman" panose="02020603050405020304" pitchFamily="18" charset="0"/>
              </a:rPr>
              <a:t>Shortlisted or Rejected</a:t>
            </a:r>
            <a:r>
              <a:rPr lang="en-US" sz="3200" dirty="0">
                <a:latin typeface="Times New Roman" panose="02020603050405020304" pitchFamily="18" charset="0"/>
                <a:cs typeface="Times New Roman" panose="02020603050405020304" pitchFamily="18" charset="0"/>
              </a:rPr>
              <a:t>, a beautifully designed HTML email is automatically sent to the student's inbox using </a:t>
            </a:r>
            <a:r>
              <a:rPr lang="en-US" sz="3200" b="1" dirty="0">
                <a:latin typeface="Times New Roman" panose="02020603050405020304" pitchFamily="18" charset="0"/>
                <a:cs typeface="Times New Roman" panose="02020603050405020304" pitchFamily="18" charset="0"/>
              </a:rPr>
              <a:t>Gmail SMTP and Spring @Async</a:t>
            </a:r>
            <a:r>
              <a:rPr lang="en-US" sz="3200" dirty="0">
                <a:latin typeface="Times New Roman" panose="02020603050405020304" pitchFamily="18" charset="0"/>
                <a:cs typeface="Times New Roman" panose="02020603050405020304" pitchFamily="18" charset="0"/>
              </a:rPr>
              <a:t> so the page never freezes during email delivery.</a:t>
            </a:r>
          </a:p>
          <a:p>
            <a:pPr algn="just"/>
            <a:endParaRPr lang="en-US" sz="3200" dirty="0">
              <a:latin typeface="Times New Roman" panose="02020603050405020304" pitchFamily="18" charset="0"/>
              <a:cs typeface="Times New Roman" panose="02020603050405020304" pitchFamily="18" charset="0"/>
            </a:endParaRPr>
          </a:p>
          <a:p>
            <a:pPr algn="just"/>
            <a:r>
              <a:rPr lang="en-US" sz="3200" b="1" dirty="0">
                <a:latin typeface="Times New Roman" panose="02020603050405020304" pitchFamily="18" charset="0"/>
                <a:cs typeface="Times New Roman" panose="02020603050405020304" pitchFamily="18" charset="0"/>
              </a:rPr>
              <a:t>🤖 Module 3 — AI Chatbot Assistant</a:t>
            </a:r>
          </a:p>
          <a:p>
            <a:pPr algn="just"/>
            <a:r>
              <a:rPr lang="en-US" sz="3200" dirty="0">
                <a:latin typeface="Times New Roman" panose="02020603050405020304" pitchFamily="18" charset="0"/>
                <a:cs typeface="Times New Roman" panose="02020603050405020304" pitchFamily="18" charset="0"/>
              </a:rPr>
              <a:t>An intelligent </a:t>
            </a:r>
            <a:r>
              <a:rPr lang="en-US" sz="3200" b="1" dirty="0">
                <a:latin typeface="Times New Roman" panose="02020603050405020304" pitchFamily="18" charset="0"/>
                <a:cs typeface="Times New Roman" panose="02020603050405020304" pitchFamily="18" charset="0"/>
              </a:rPr>
              <a:t>JavaScript-powered Chatbot</a:t>
            </a:r>
            <a:r>
              <a:rPr lang="en-US" sz="3200" dirty="0">
                <a:latin typeface="Times New Roman" panose="02020603050405020304" pitchFamily="18" charset="0"/>
                <a:cs typeface="Times New Roman" panose="02020603050405020304" pitchFamily="18" charset="0"/>
              </a:rPr>
              <a:t> embedded on every page of the portal. It understands natural language queries and responds with guidance on job searching, resume tips, interview preparation, cover letter writing, application tracking, and platform navigation. Features quick reply buttons and keyboard navigation.</a:t>
            </a:r>
          </a:p>
        </p:txBody>
      </p:sp>
    </p:spTree>
    <p:extLst>
      <p:ext uri="{BB962C8B-B14F-4D97-AF65-F5344CB8AC3E}">
        <p14:creationId xmlns:p14="http://schemas.microsoft.com/office/powerpoint/2010/main" val="292795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A6A4931F-5C84-FCFF-C3F9-2B30B4CC92E7}"/>
            </a:ext>
          </a:extLst>
        </p:cNvPr>
        <p:cNvGrpSpPr/>
        <p:nvPr/>
      </p:nvGrpSpPr>
      <p:grpSpPr>
        <a:xfrm>
          <a:off x="0" y="0"/>
          <a:ext cx="0" cy="0"/>
          <a:chOff x="0" y="0"/>
          <a:chExt cx="0" cy="0"/>
        </a:xfrm>
      </p:grpSpPr>
      <p:sp>
        <p:nvSpPr>
          <p:cNvPr id="34" name="Freeform 34">
            <a:extLst>
              <a:ext uri="{FF2B5EF4-FFF2-40B4-BE49-F238E27FC236}">
                <a16:creationId xmlns:a16="http://schemas.microsoft.com/office/drawing/2014/main" id="{0BD56E96-2B2A-C3A5-F7A6-6A952B947BB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DFDC6A91-4B0F-5C0A-D964-6CE4DAB0A853}"/>
              </a:ext>
            </a:extLst>
          </p:cNvPr>
          <p:cNvGrpSpPr/>
          <p:nvPr/>
        </p:nvGrpSpPr>
        <p:grpSpPr>
          <a:xfrm>
            <a:off x="14249400" y="0"/>
            <a:ext cx="10994424" cy="10994424"/>
            <a:chOff x="0" y="0"/>
            <a:chExt cx="812800" cy="812800"/>
          </a:xfrm>
        </p:grpSpPr>
        <p:sp>
          <p:nvSpPr>
            <p:cNvPr id="36" name="Freeform 36">
              <a:extLst>
                <a:ext uri="{FF2B5EF4-FFF2-40B4-BE49-F238E27FC236}">
                  <a16:creationId xmlns:a16="http://schemas.microsoft.com/office/drawing/2014/main" id="{57F43A0C-4C5F-3D1F-3681-7FB9027B44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F2B9E409-016E-70EE-B6C6-6E2F4EA7E4B7}"/>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1BE19C5-BFAC-8218-A243-4192D570933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INNOVATIVE MODULE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2D724D62-EA91-100A-D131-A7EFF953C56C}"/>
              </a:ext>
            </a:extLst>
          </p:cNvPr>
          <p:cNvSpPr txBox="1"/>
          <p:nvPr/>
        </p:nvSpPr>
        <p:spPr>
          <a:xfrm>
            <a:off x="732778" y="2163825"/>
            <a:ext cx="16822443" cy="7478970"/>
          </a:xfrm>
          <a:prstGeom prst="rect">
            <a:avLst/>
          </a:prstGeom>
          <a:noFill/>
        </p:spPr>
        <p:txBody>
          <a:bodyPr wrap="square" rtlCol="0">
            <a:spAutoFit/>
          </a:bodyPr>
          <a:lstStyle/>
          <a:p>
            <a:pPr algn="just"/>
            <a:r>
              <a:rPr lang="en-US" sz="3200" b="1" dirty="0">
                <a:latin typeface="Times New Roman" panose="02020603050405020304" pitchFamily="18" charset="0"/>
                <a:cs typeface="Times New Roman" panose="02020603050405020304" pitchFamily="18" charset="0"/>
              </a:rPr>
              <a:t>🔍 Module 4 — Smart Search Autocomplete</a:t>
            </a:r>
          </a:p>
          <a:p>
            <a:pPr algn="just"/>
            <a:r>
              <a:rPr lang="en-US" sz="3200" dirty="0">
                <a:latin typeface="Times New Roman" panose="02020603050405020304" pitchFamily="18" charset="0"/>
                <a:cs typeface="Times New Roman" panose="02020603050405020304" pitchFamily="18" charset="0"/>
              </a:rPr>
              <a:t>A </a:t>
            </a:r>
            <a:r>
              <a:rPr lang="en-US" sz="3200" b="1" dirty="0">
                <a:latin typeface="Times New Roman" panose="02020603050405020304" pitchFamily="18" charset="0"/>
                <a:cs typeface="Times New Roman" panose="02020603050405020304" pitchFamily="18" charset="0"/>
              </a:rPr>
              <a:t>real-time search autocomplete engine</a:t>
            </a:r>
            <a:r>
              <a:rPr lang="en-US" sz="3200" dirty="0">
                <a:latin typeface="Times New Roman" panose="02020603050405020304" pitchFamily="18" charset="0"/>
                <a:cs typeface="Times New Roman" panose="02020603050405020304" pitchFamily="18" charset="0"/>
              </a:rPr>
              <a:t> built with JavaScript ES6 that suggests matching job titles and skills as the user types in the search bar. Supports keyboard navigation with Arrow keys and auto-submits on selection. Contains 60+ predefined suggestions across IT, Finance, Marketing, Design, Healthcare, and Management domains.</a:t>
            </a:r>
          </a:p>
          <a:p>
            <a:pPr algn="just"/>
            <a:endParaRPr lang="en-US" sz="3200" dirty="0">
              <a:latin typeface="Times New Roman" panose="02020603050405020304" pitchFamily="18" charset="0"/>
              <a:cs typeface="Times New Roman" panose="02020603050405020304" pitchFamily="18" charset="0"/>
            </a:endParaRPr>
          </a:p>
          <a:p>
            <a:pPr algn="just"/>
            <a:r>
              <a:rPr lang="en-US" sz="3200" b="1" dirty="0">
                <a:latin typeface="Times New Roman" panose="02020603050405020304" pitchFamily="18" charset="0"/>
                <a:cs typeface="Times New Roman" panose="02020603050405020304" pitchFamily="18" charset="0"/>
              </a:rPr>
              <a:t>🔖 Module 5 — Job Bookmark System</a:t>
            </a:r>
          </a:p>
          <a:p>
            <a:pPr algn="just"/>
            <a:r>
              <a:rPr lang="en-US" sz="3200" dirty="0">
                <a:latin typeface="Times New Roman" panose="02020603050405020304" pitchFamily="18" charset="0"/>
                <a:cs typeface="Times New Roman" panose="02020603050405020304" pitchFamily="18" charset="0"/>
              </a:rPr>
              <a:t>Students can </a:t>
            </a:r>
            <a:r>
              <a:rPr lang="en-US" sz="3200" b="1" dirty="0">
                <a:latin typeface="Times New Roman" panose="02020603050405020304" pitchFamily="18" charset="0"/>
                <a:cs typeface="Times New Roman" panose="02020603050405020304" pitchFamily="18" charset="0"/>
              </a:rPr>
              <a:t>save or bookmark</a:t>
            </a:r>
            <a:r>
              <a:rPr lang="en-US" sz="3200" dirty="0">
                <a:latin typeface="Times New Roman" panose="02020603050405020304" pitchFamily="18" charset="0"/>
                <a:cs typeface="Times New Roman" panose="02020603050405020304" pitchFamily="18" charset="0"/>
              </a:rPr>
              <a:t> any job they are interested in with a single click and view all saved jobs in a dedicated Saved Jobs page. The toggle system automatically saves or </a:t>
            </a:r>
            <a:r>
              <a:rPr lang="en-US" sz="3200" dirty="0" err="1">
                <a:latin typeface="Times New Roman" panose="02020603050405020304" pitchFamily="18" charset="0"/>
                <a:cs typeface="Times New Roman" panose="02020603050405020304" pitchFamily="18" charset="0"/>
              </a:rPr>
              <a:t>unsaves</a:t>
            </a:r>
            <a:r>
              <a:rPr lang="en-US" sz="3200" dirty="0">
                <a:latin typeface="Times New Roman" panose="02020603050405020304" pitchFamily="18" charset="0"/>
                <a:cs typeface="Times New Roman" panose="02020603050405020304" pitchFamily="18" charset="0"/>
              </a:rPr>
              <a:t> the job using a dedicated </a:t>
            </a:r>
            <a:r>
              <a:rPr lang="en-US" sz="3200" b="1" dirty="0" err="1">
                <a:latin typeface="Times New Roman" panose="02020603050405020304" pitchFamily="18" charset="0"/>
                <a:cs typeface="Times New Roman" panose="02020603050405020304" pitchFamily="18" charset="0"/>
              </a:rPr>
              <a:t>SavedJob</a:t>
            </a:r>
            <a:r>
              <a:rPr lang="en-US" sz="3200" b="1" dirty="0">
                <a:latin typeface="Times New Roman" panose="02020603050405020304" pitchFamily="18" charset="0"/>
                <a:cs typeface="Times New Roman" panose="02020603050405020304" pitchFamily="18" charset="0"/>
              </a:rPr>
              <a:t> entity</a:t>
            </a:r>
            <a:r>
              <a:rPr lang="en-US" sz="3200" dirty="0">
                <a:latin typeface="Times New Roman" panose="02020603050405020304" pitchFamily="18" charset="0"/>
                <a:cs typeface="Times New Roman" panose="02020603050405020304" pitchFamily="18" charset="0"/>
              </a:rPr>
              <a:t> with Spring Data JPA.</a:t>
            </a:r>
          </a:p>
          <a:p>
            <a:pPr algn="just"/>
            <a:endParaRPr lang="en-US" sz="3200" dirty="0">
              <a:latin typeface="Times New Roman" panose="02020603050405020304" pitchFamily="18" charset="0"/>
              <a:cs typeface="Times New Roman" panose="02020603050405020304" pitchFamily="18" charset="0"/>
            </a:endParaRPr>
          </a:p>
          <a:p>
            <a:pPr algn="just"/>
            <a:r>
              <a:rPr lang="en-US" sz="3200" b="1" dirty="0">
                <a:latin typeface="Times New Roman" panose="02020603050405020304" pitchFamily="18" charset="0"/>
                <a:cs typeface="Times New Roman" panose="02020603050405020304" pitchFamily="18" charset="0"/>
              </a:rPr>
              <a:t>⏰ Module 6 — Job Expiry Date System</a:t>
            </a:r>
          </a:p>
          <a:p>
            <a:pPr algn="just"/>
            <a:r>
              <a:rPr lang="en-US" sz="3200" dirty="0">
                <a:latin typeface="Times New Roman" panose="02020603050405020304" pitchFamily="18" charset="0"/>
                <a:cs typeface="Times New Roman" panose="02020603050405020304" pitchFamily="18" charset="0"/>
              </a:rPr>
              <a:t>Employers set an </a:t>
            </a:r>
            <a:r>
              <a:rPr lang="en-US" sz="3200" b="1" dirty="0">
                <a:latin typeface="Times New Roman" panose="02020603050405020304" pitchFamily="18" charset="0"/>
                <a:cs typeface="Times New Roman" panose="02020603050405020304" pitchFamily="18" charset="0"/>
              </a:rPr>
              <a:t>application deadline</a:t>
            </a:r>
            <a:r>
              <a:rPr lang="en-US" sz="3200" dirty="0">
                <a:latin typeface="Times New Roman" panose="02020603050405020304" pitchFamily="18" charset="0"/>
                <a:cs typeface="Times New Roman" panose="02020603050405020304" pitchFamily="18" charset="0"/>
              </a:rPr>
              <a:t> when posting jobs. After the deadline passes, the job automatically shows an </a:t>
            </a:r>
            <a:r>
              <a:rPr lang="en-US" sz="3200" b="1" dirty="0">
                <a:latin typeface="Times New Roman" panose="02020603050405020304" pitchFamily="18" charset="0"/>
                <a:cs typeface="Times New Roman" panose="02020603050405020304" pitchFamily="18" charset="0"/>
              </a:rPr>
              <a:t>Expired badge</a:t>
            </a:r>
            <a:r>
              <a:rPr lang="en-US" sz="3200" dirty="0">
                <a:latin typeface="Times New Roman" panose="02020603050405020304" pitchFamily="18" charset="0"/>
                <a:cs typeface="Times New Roman" panose="02020603050405020304" pitchFamily="18" charset="0"/>
              </a:rPr>
              <a:t>, disables the Apply button, and shows an Applications Closed message — preventing students from applying to outdated listings.</a:t>
            </a:r>
          </a:p>
        </p:txBody>
      </p:sp>
    </p:spTree>
    <p:extLst>
      <p:ext uri="{BB962C8B-B14F-4D97-AF65-F5344CB8AC3E}">
        <p14:creationId xmlns:p14="http://schemas.microsoft.com/office/powerpoint/2010/main" val="444488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01973" y="1409700"/>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8" name="TextBox 37">
            <a:extLst>
              <a:ext uri="{FF2B5EF4-FFF2-40B4-BE49-F238E27FC236}">
                <a16:creationId xmlns:a16="http://schemas.microsoft.com/office/drawing/2014/main" id="{4D67006D-2695-AB1E-65BA-FFCCF5269BE8}"/>
              </a:ext>
            </a:extLst>
          </p:cNvPr>
          <p:cNvSpPr txBox="1"/>
          <p:nvPr/>
        </p:nvSpPr>
        <p:spPr>
          <a:xfrm>
            <a:off x="10145441" y="2014195"/>
            <a:ext cx="7984957" cy="1815882"/>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Home Page welcomes users with a stunning </a:t>
            </a:r>
            <a:r>
              <a:rPr lang="en-US" sz="2800" b="1" dirty="0">
                <a:latin typeface="Times New Roman" panose="02020603050405020304" pitchFamily="18" charset="0"/>
                <a:cs typeface="Times New Roman" panose="02020603050405020304" pitchFamily="18" charset="0"/>
              </a:rPr>
              <a:t>Midnight Purple + Gold</a:t>
            </a:r>
            <a:r>
              <a:rPr lang="en-US" sz="2800" dirty="0">
                <a:latin typeface="Times New Roman" panose="02020603050405020304" pitchFamily="18" charset="0"/>
                <a:cs typeface="Times New Roman" panose="02020603050405020304" pitchFamily="18" charset="0"/>
              </a:rPr>
              <a:t> themed hero section featuring particle animations, typewriter effect, and job search bar. .</a:t>
            </a:r>
            <a:endParaRPr lang="en-IN" sz="28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DA5B5636-BE0B-671D-6F7B-894AF285AFE9}"/>
              </a:ext>
            </a:extLst>
          </p:cNvPr>
          <p:cNvSpPr txBox="1"/>
          <p:nvPr/>
        </p:nvSpPr>
        <p:spPr>
          <a:xfrm>
            <a:off x="1611407" y="7229616"/>
            <a:ext cx="7876502" cy="1384995"/>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It showcases category cards, latest job listings with applicant count badges, and a </a:t>
            </a:r>
            <a:r>
              <a:rPr lang="en-US" sz="2800" dirty="0" err="1">
                <a:latin typeface="Times New Roman" panose="02020603050405020304" pitchFamily="18" charset="0"/>
                <a:cs typeface="Times New Roman" panose="02020603050405020304" pitchFamily="18" charset="0"/>
              </a:rPr>
              <a:t>glassmorphism</a:t>
            </a:r>
            <a:r>
              <a:rPr lang="en-US" sz="2800" dirty="0">
                <a:latin typeface="Times New Roman" panose="02020603050405020304" pitchFamily="18" charset="0"/>
                <a:cs typeface="Times New Roman" panose="02020603050405020304" pitchFamily="18" charset="0"/>
              </a:rPr>
              <a:t> design with smooth scroll animations throughout.</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83E13F-46F2-CBBE-E928-EED6F4570BF7}"/>
              </a:ext>
            </a:extLst>
          </p:cNvPr>
          <p:cNvPicPr>
            <a:picLocks noChangeAspect="1"/>
          </p:cNvPicPr>
          <p:nvPr/>
        </p:nvPicPr>
        <p:blipFill>
          <a:blip r:embed="rId3"/>
          <a:stretch>
            <a:fillRect/>
          </a:stretch>
        </p:blipFill>
        <p:spPr>
          <a:xfrm>
            <a:off x="1872528" y="1672389"/>
            <a:ext cx="7984957" cy="3761543"/>
          </a:xfrm>
          <a:prstGeom prst="rect">
            <a:avLst/>
          </a:prstGeom>
        </p:spPr>
      </p:pic>
      <p:pic>
        <p:nvPicPr>
          <p:cNvPr id="10" name="Picture 9">
            <a:extLst>
              <a:ext uri="{FF2B5EF4-FFF2-40B4-BE49-F238E27FC236}">
                <a16:creationId xmlns:a16="http://schemas.microsoft.com/office/drawing/2014/main" id="{9C79978C-D75A-DF5B-5B29-432290D0E2B8}"/>
              </a:ext>
            </a:extLst>
          </p:cNvPr>
          <p:cNvPicPr>
            <a:picLocks noChangeAspect="1"/>
          </p:cNvPicPr>
          <p:nvPr/>
        </p:nvPicPr>
        <p:blipFill>
          <a:blip r:embed="rId4"/>
          <a:stretch>
            <a:fillRect/>
          </a:stretch>
        </p:blipFill>
        <p:spPr>
          <a:xfrm>
            <a:off x="9709495" y="5809827"/>
            <a:ext cx="8037265" cy="3777808"/>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23294" y="1235091"/>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8" name="TextBox 37">
            <a:extLst>
              <a:ext uri="{FF2B5EF4-FFF2-40B4-BE49-F238E27FC236}">
                <a16:creationId xmlns:a16="http://schemas.microsoft.com/office/drawing/2014/main" id="{CE0A3699-70CC-DF77-658E-E06070E8BC7A}"/>
              </a:ext>
            </a:extLst>
          </p:cNvPr>
          <p:cNvSpPr txBox="1"/>
          <p:nvPr/>
        </p:nvSpPr>
        <p:spPr>
          <a:xfrm>
            <a:off x="1317250" y="7727410"/>
            <a:ext cx="15577299" cy="2246769"/>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Registration Page allows new users to select their role as </a:t>
            </a:r>
            <a:r>
              <a:rPr lang="en-US" sz="2800" b="1" dirty="0">
                <a:latin typeface="Times New Roman" panose="02020603050405020304" pitchFamily="18" charset="0"/>
                <a:cs typeface="Times New Roman" panose="02020603050405020304" pitchFamily="18" charset="0"/>
              </a:rPr>
              <a:t>Job Seeker or Employer</a:t>
            </a:r>
            <a:r>
              <a:rPr lang="en-US" sz="2800" dirty="0">
                <a:latin typeface="Times New Roman" panose="02020603050405020304" pitchFamily="18" charset="0"/>
                <a:cs typeface="Times New Roman" panose="02020603050405020304" pitchFamily="18" charset="0"/>
              </a:rPr>
              <a:t> with interactive role selection cards and real-time skills preview.</a:t>
            </a:r>
          </a:p>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A </a:t>
            </a:r>
            <a:r>
              <a:rPr lang="en-US" sz="2800" b="1" dirty="0">
                <a:latin typeface="Times New Roman" panose="02020603050405020304" pitchFamily="18" charset="0"/>
                <a:cs typeface="Times New Roman" panose="02020603050405020304" pitchFamily="18" charset="0"/>
              </a:rPr>
              <a:t>2-Step Email OTP Verification</a:t>
            </a:r>
            <a:r>
              <a:rPr lang="en-US" sz="2800" dirty="0">
                <a:latin typeface="Times New Roman" panose="02020603050405020304" pitchFamily="18" charset="0"/>
                <a:cs typeface="Times New Roman" panose="02020603050405020304" pitchFamily="18" charset="0"/>
              </a:rPr>
              <a:t> system sends a 6-digit code to the user's email — the OTP page features individual digit input boxes with auto-focus, paste support, and a live 5-minute countdown timer.</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DEBACFD-045E-1A4B-5ECC-71D2C483372D}"/>
              </a:ext>
            </a:extLst>
          </p:cNvPr>
          <p:cNvPicPr>
            <a:picLocks noChangeAspect="1"/>
          </p:cNvPicPr>
          <p:nvPr/>
        </p:nvPicPr>
        <p:blipFill>
          <a:blip r:embed="rId3"/>
          <a:stretch>
            <a:fillRect/>
          </a:stretch>
        </p:blipFill>
        <p:spPr>
          <a:xfrm>
            <a:off x="2116756" y="1235091"/>
            <a:ext cx="14103619" cy="621666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967800" y="1554442"/>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C68FE620-4ECB-A365-52A4-C525DC82D9E7}"/>
              </a:ext>
            </a:extLst>
          </p:cNvPr>
          <p:cNvSpPr txBox="1"/>
          <p:nvPr/>
        </p:nvSpPr>
        <p:spPr>
          <a:xfrm>
            <a:off x="1464031" y="8516995"/>
            <a:ext cx="16072925" cy="1384995"/>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Login Page allows registered users to securely sign in using their verified email and password with Spring Security authentication. It supports </a:t>
            </a:r>
            <a:r>
              <a:rPr lang="en-US" sz="2800" b="1" dirty="0">
                <a:latin typeface="Times New Roman" panose="02020603050405020304" pitchFamily="18" charset="0"/>
                <a:cs typeface="Times New Roman" panose="02020603050405020304" pitchFamily="18" charset="0"/>
              </a:rPr>
              <a:t>role-based automatic redirection</a:t>
            </a:r>
            <a:r>
              <a:rPr lang="en-US" sz="2800" dirty="0">
                <a:latin typeface="Times New Roman" panose="02020603050405020304" pitchFamily="18" charset="0"/>
                <a:cs typeface="Times New Roman" panose="02020603050405020304" pitchFamily="18" charset="0"/>
              </a:rPr>
              <a:t> where Students, Employers, and Admins are instantly directed to their respective dashboards after successful login.</a:t>
            </a:r>
          </a:p>
        </p:txBody>
      </p:sp>
      <p:pic>
        <p:nvPicPr>
          <p:cNvPr id="4" name="Picture 3">
            <a:extLst>
              <a:ext uri="{FF2B5EF4-FFF2-40B4-BE49-F238E27FC236}">
                <a16:creationId xmlns:a16="http://schemas.microsoft.com/office/drawing/2014/main" id="{A9DF18B0-8DEB-064E-3EE2-2F3EA9C8645D}"/>
              </a:ext>
            </a:extLst>
          </p:cNvPr>
          <p:cNvPicPr>
            <a:picLocks noChangeAspect="1"/>
          </p:cNvPicPr>
          <p:nvPr/>
        </p:nvPicPr>
        <p:blipFill>
          <a:blip r:embed="rId3"/>
          <a:stretch>
            <a:fillRect/>
          </a:stretch>
        </p:blipFill>
        <p:spPr>
          <a:xfrm>
            <a:off x="2624704" y="1554442"/>
            <a:ext cx="13934097" cy="658200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44E26CEF-AB99-43E8-6B8E-9A1ABA0E9092}"/>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C1DEC749-7ACA-BB3B-D756-666B7A89E647}"/>
              </a:ext>
            </a:extLst>
          </p:cNvPr>
          <p:cNvGrpSpPr/>
          <p:nvPr/>
        </p:nvGrpSpPr>
        <p:grpSpPr>
          <a:xfrm>
            <a:off x="494368" y="1491265"/>
            <a:ext cx="992463" cy="992463"/>
            <a:chOff x="0" y="0"/>
            <a:chExt cx="812800" cy="812800"/>
          </a:xfrm>
        </p:grpSpPr>
        <p:sp>
          <p:nvSpPr>
            <p:cNvPr id="8" name="Freeform 8">
              <a:extLst>
                <a:ext uri="{FF2B5EF4-FFF2-40B4-BE49-F238E27FC236}">
                  <a16:creationId xmlns:a16="http://schemas.microsoft.com/office/drawing/2014/main" id="{950538ED-C973-A409-1D6B-E3F6830C9B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E868D946-D05A-3E49-13C8-E0A028AEE423}"/>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sp>
        <p:nvSpPr>
          <p:cNvPr id="34" name="Freeform 34">
            <a:extLst>
              <a:ext uri="{FF2B5EF4-FFF2-40B4-BE49-F238E27FC236}">
                <a16:creationId xmlns:a16="http://schemas.microsoft.com/office/drawing/2014/main" id="{3444C938-26DB-78C4-3AF6-C7144D638F5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0426E6F-D6DA-143E-78FB-37F6435F22DC}"/>
              </a:ext>
            </a:extLst>
          </p:cNvPr>
          <p:cNvGrpSpPr/>
          <p:nvPr/>
        </p:nvGrpSpPr>
        <p:grpSpPr>
          <a:xfrm>
            <a:off x="12512607" y="-46121"/>
            <a:ext cx="10994424" cy="10994424"/>
            <a:chOff x="0" y="0"/>
            <a:chExt cx="812800" cy="812800"/>
          </a:xfrm>
        </p:grpSpPr>
        <p:sp>
          <p:nvSpPr>
            <p:cNvPr id="36" name="Freeform 36">
              <a:extLst>
                <a:ext uri="{FF2B5EF4-FFF2-40B4-BE49-F238E27FC236}">
                  <a16:creationId xmlns:a16="http://schemas.microsoft.com/office/drawing/2014/main" id="{717B149A-5243-DD19-9F99-62D412CAA2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03D155F1-70AB-61ED-C9FC-6C7895587506}"/>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8625554-C870-5563-534C-AC2F97D42681}"/>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0753A30-797C-C3E9-46C3-27C220B89E54}"/>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3D484F27-EE8B-46D6-EA1C-EB5CBB26808C}"/>
              </a:ext>
            </a:extLst>
          </p:cNvPr>
          <p:cNvSpPr txBox="1"/>
          <p:nvPr/>
        </p:nvSpPr>
        <p:spPr>
          <a:xfrm>
            <a:off x="990600" y="8191500"/>
            <a:ext cx="16535400" cy="1384995"/>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Student Dashboard provides a personalized overview with </a:t>
            </a:r>
            <a:r>
              <a:rPr lang="en-US" sz="2800" b="1" dirty="0">
                <a:latin typeface="Times New Roman" panose="02020603050405020304" pitchFamily="18" charset="0"/>
                <a:cs typeface="Times New Roman" panose="02020603050405020304" pitchFamily="18" charset="0"/>
              </a:rPr>
              <a:t>gradient stat cards</a:t>
            </a:r>
            <a:r>
              <a:rPr lang="en-US" sz="2800" dirty="0">
                <a:latin typeface="Times New Roman" panose="02020603050405020304" pitchFamily="18" charset="0"/>
                <a:cs typeface="Times New Roman" panose="02020603050405020304" pitchFamily="18" charset="0"/>
              </a:rPr>
              <a:t> showing total applications, shortlisted count, pending status, and rejected applications. It features </a:t>
            </a:r>
            <a:r>
              <a:rPr lang="en-US" sz="2800" b="1" dirty="0">
                <a:latin typeface="Times New Roman" panose="02020603050405020304" pitchFamily="18" charset="0"/>
                <a:cs typeface="Times New Roman" panose="02020603050405020304" pitchFamily="18" charset="0"/>
              </a:rPr>
              <a:t>Chart.js doughnut and bar charts</a:t>
            </a:r>
            <a:r>
              <a:rPr lang="en-US" sz="2800" dirty="0">
                <a:latin typeface="Times New Roman" panose="02020603050405020304" pitchFamily="18" charset="0"/>
                <a:cs typeface="Times New Roman" panose="02020603050405020304" pitchFamily="18" charset="0"/>
              </a:rPr>
              <a:t> for visual analytics, recommended job listings, resume upload, and a live clock display.</a:t>
            </a:r>
          </a:p>
        </p:txBody>
      </p:sp>
      <p:pic>
        <p:nvPicPr>
          <p:cNvPr id="4" name="Picture 3">
            <a:extLst>
              <a:ext uri="{FF2B5EF4-FFF2-40B4-BE49-F238E27FC236}">
                <a16:creationId xmlns:a16="http://schemas.microsoft.com/office/drawing/2014/main" id="{57EACA68-F378-AF59-6E31-FAB0F5AD1F2A}"/>
              </a:ext>
            </a:extLst>
          </p:cNvPr>
          <p:cNvPicPr>
            <a:picLocks noChangeAspect="1"/>
          </p:cNvPicPr>
          <p:nvPr/>
        </p:nvPicPr>
        <p:blipFill>
          <a:blip r:embed="rId3"/>
          <a:stretch>
            <a:fillRect/>
          </a:stretch>
        </p:blipFill>
        <p:spPr>
          <a:xfrm>
            <a:off x="1947225" y="1496463"/>
            <a:ext cx="14130975" cy="6601331"/>
          </a:xfrm>
          <a:prstGeom prst="rect">
            <a:avLst/>
          </a:prstGeom>
        </p:spPr>
      </p:pic>
    </p:spTree>
    <p:extLst>
      <p:ext uri="{BB962C8B-B14F-4D97-AF65-F5344CB8AC3E}">
        <p14:creationId xmlns:p14="http://schemas.microsoft.com/office/powerpoint/2010/main" val="3859723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603860" y="1433971"/>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8(D)</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3529386" y="-48912"/>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176975" y="1690192"/>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8" name="TextBox 37">
            <a:extLst>
              <a:ext uri="{FF2B5EF4-FFF2-40B4-BE49-F238E27FC236}">
                <a16:creationId xmlns:a16="http://schemas.microsoft.com/office/drawing/2014/main" id="{11F5148B-59B5-5F81-4B17-7F2DD3109A18}"/>
              </a:ext>
            </a:extLst>
          </p:cNvPr>
          <p:cNvSpPr txBox="1"/>
          <p:nvPr/>
        </p:nvSpPr>
        <p:spPr>
          <a:xfrm>
            <a:off x="10728425" y="1296795"/>
            <a:ext cx="6802673" cy="3539430"/>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Employer Dashboard displays all posted jobs with applicant counts, posting dates, expiry deadlines, and job status in a clean organized table. It features </a:t>
            </a:r>
            <a:r>
              <a:rPr lang="en-US" sz="2800" b="1" dirty="0">
                <a:latin typeface="Times New Roman" panose="02020603050405020304" pitchFamily="18" charset="0"/>
                <a:cs typeface="Times New Roman" panose="02020603050405020304" pitchFamily="18" charset="0"/>
              </a:rPr>
              <a:t>Chart.js analytics</a:t>
            </a:r>
            <a:r>
              <a:rPr lang="en-US" sz="2800" dirty="0">
                <a:latin typeface="Times New Roman" panose="02020603050405020304" pitchFamily="18" charset="0"/>
                <a:cs typeface="Times New Roman" panose="02020603050405020304" pitchFamily="18" charset="0"/>
              </a:rPr>
              <a:t> showing job status overview and applicants per job bar chart, along with </a:t>
            </a:r>
            <a:r>
              <a:rPr lang="en-US" sz="2800" b="1" dirty="0">
                <a:latin typeface="Times New Roman" panose="02020603050405020304" pitchFamily="18" charset="0"/>
                <a:cs typeface="Times New Roman" panose="02020603050405020304" pitchFamily="18" charset="0"/>
              </a:rPr>
              <a:t>Edit  and Delete</a:t>
            </a:r>
            <a:r>
              <a:rPr lang="en-US" sz="2800" dirty="0">
                <a:latin typeface="Times New Roman" panose="02020603050405020304" pitchFamily="18" charset="0"/>
                <a:cs typeface="Times New Roman" panose="02020603050405020304" pitchFamily="18" charset="0"/>
              </a:rPr>
              <a:t> action buttons for each listing.</a:t>
            </a:r>
            <a:endParaRPr lang="en-IN" sz="28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41B4D8C0-95B6-CF73-4D56-A29F06159A98}"/>
              </a:ext>
            </a:extLst>
          </p:cNvPr>
          <p:cNvSpPr txBox="1"/>
          <p:nvPr/>
        </p:nvSpPr>
        <p:spPr>
          <a:xfrm>
            <a:off x="703529" y="6039365"/>
            <a:ext cx="7872458" cy="3539430"/>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Applicants Page shows all candidates who applied for a specific job with their name, email, phone, skills, and application date in a detailed table. Employers can </a:t>
            </a:r>
            <a:r>
              <a:rPr lang="en-US" sz="2800" b="1" dirty="0">
                <a:latin typeface="Times New Roman" panose="02020603050405020304" pitchFamily="18" charset="0"/>
                <a:cs typeface="Times New Roman" panose="02020603050405020304" pitchFamily="18" charset="0"/>
              </a:rPr>
              <a:t>View Cover Letters</a:t>
            </a:r>
            <a:r>
              <a:rPr lang="en-US" sz="2800" dirty="0">
                <a:latin typeface="Times New Roman" panose="02020603050405020304" pitchFamily="18" charset="0"/>
                <a:cs typeface="Times New Roman" panose="02020603050405020304" pitchFamily="18" charset="0"/>
              </a:rPr>
              <a:t> in a popup modal, </a:t>
            </a:r>
            <a:r>
              <a:rPr lang="en-US" sz="2800" b="1" dirty="0">
                <a:latin typeface="Times New Roman" panose="02020603050405020304" pitchFamily="18" charset="0"/>
                <a:cs typeface="Times New Roman" panose="02020603050405020304" pitchFamily="18" charset="0"/>
              </a:rPr>
              <a:t>Download Resumes</a:t>
            </a:r>
            <a:r>
              <a:rPr lang="en-US" sz="2800" dirty="0">
                <a:latin typeface="Times New Roman" panose="02020603050405020304" pitchFamily="18" charset="0"/>
                <a:cs typeface="Times New Roman" panose="02020603050405020304" pitchFamily="18" charset="0"/>
              </a:rPr>
              <a:t> directly, and change application status to Shortlist or Reject — triggering automatic email notifications to students..</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BEAC66-0EA8-A3CF-71D8-C119753D75C9}"/>
              </a:ext>
            </a:extLst>
          </p:cNvPr>
          <p:cNvPicPr>
            <a:picLocks noChangeAspect="1"/>
          </p:cNvPicPr>
          <p:nvPr/>
        </p:nvPicPr>
        <p:blipFill>
          <a:blip r:embed="rId3"/>
          <a:stretch>
            <a:fillRect/>
          </a:stretch>
        </p:blipFill>
        <p:spPr>
          <a:xfrm>
            <a:off x="1827850" y="1371661"/>
            <a:ext cx="8237389" cy="3856440"/>
          </a:xfrm>
          <a:prstGeom prst="rect">
            <a:avLst/>
          </a:prstGeom>
        </p:spPr>
      </p:pic>
      <p:pic>
        <p:nvPicPr>
          <p:cNvPr id="10" name="Picture 9">
            <a:extLst>
              <a:ext uri="{FF2B5EF4-FFF2-40B4-BE49-F238E27FC236}">
                <a16:creationId xmlns:a16="http://schemas.microsoft.com/office/drawing/2014/main" id="{30F6B122-B8B3-3E97-1AE7-3225EE932FA0}"/>
              </a:ext>
            </a:extLst>
          </p:cNvPr>
          <p:cNvPicPr>
            <a:picLocks noChangeAspect="1"/>
          </p:cNvPicPr>
          <p:nvPr/>
        </p:nvPicPr>
        <p:blipFill>
          <a:blip r:embed="rId4"/>
          <a:stretch>
            <a:fillRect/>
          </a:stretch>
        </p:blipFill>
        <p:spPr>
          <a:xfrm>
            <a:off x="9902769" y="6039365"/>
            <a:ext cx="7705656" cy="360186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395B9753-58BA-0CD3-E460-1C7ED72FA012}"/>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99CE2744-5B92-2510-E63A-E6D94B831CF1}"/>
              </a:ext>
            </a:extLst>
          </p:cNvPr>
          <p:cNvGrpSpPr/>
          <p:nvPr/>
        </p:nvGrpSpPr>
        <p:grpSpPr>
          <a:xfrm>
            <a:off x="603860" y="1433971"/>
            <a:ext cx="992463" cy="992463"/>
            <a:chOff x="0" y="0"/>
            <a:chExt cx="812800" cy="812800"/>
          </a:xfrm>
        </p:grpSpPr>
        <p:sp>
          <p:nvSpPr>
            <p:cNvPr id="8" name="Freeform 8">
              <a:extLst>
                <a:ext uri="{FF2B5EF4-FFF2-40B4-BE49-F238E27FC236}">
                  <a16:creationId xmlns:a16="http://schemas.microsoft.com/office/drawing/2014/main" id="{34CAE1DB-8328-AB04-20D0-ED74A84445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BEAE1B76-9F89-E762-C9C2-2F4D6A2E3C7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8(E)</a:t>
              </a:r>
            </a:p>
          </p:txBody>
        </p:sp>
      </p:grpSp>
      <p:sp>
        <p:nvSpPr>
          <p:cNvPr id="34" name="Freeform 34">
            <a:extLst>
              <a:ext uri="{FF2B5EF4-FFF2-40B4-BE49-F238E27FC236}">
                <a16:creationId xmlns:a16="http://schemas.microsoft.com/office/drawing/2014/main" id="{16D0ED78-D1DD-C3D9-CCCA-106D6D9C26AE}"/>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00843CE6-CD60-5A68-D1A7-01425E46F591}"/>
              </a:ext>
            </a:extLst>
          </p:cNvPr>
          <p:cNvGrpSpPr/>
          <p:nvPr/>
        </p:nvGrpSpPr>
        <p:grpSpPr>
          <a:xfrm>
            <a:off x="13529386" y="-48912"/>
            <a:ext cx="10994424" cy="10994424"/>
            <a:chOff x="0" y="0"/>
            <a:chExt cx="812800" cy="812800"/>
          </a:xfrm>
        </p:grpSpPr>
        <p:sp>
          <p:nvSpPr>
            <p:cNvPr id="36" name="Freeform 36">
              <a:extLst>
                <a:ext uri="{FF2B5EF4-FFF2-40B4-BE49-F238E27FC236}">
                  <a16:creationId xmlns:a16="http://schemas.microsoft.com/office/drawing/2014/main" id="{8F5920F5-4580-C1BB-A156-0E7BD2E774F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844FA376-FD80-06D4-B34E-AB3D97C83D8B}"/>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4BF5C446-B8C8-D11C-2F35-9426BE071DF5}"/>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30BB82C-1B63-4289-096F-BFD182EF80E2}"/>
              </a:ext>
            </a:extLst>
          </p:cNvPr>
          <p:cNvSpPr txBox="1"/>
          <p:nvPr/>
        </p:nvSpPr>
        <p:spPr>
          <a:xfrm>
            <a:off x="2163837" y="1767348"/>
            <a:ext cx="15082325" cy="5262979"/>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3" name="Picture 2">
            <a:extLst>
              <a:ext uri="{FF2B5EF4-FFF2-40B4-BE49-F238E27FC236}">
                <a16:creationId xmlns:a16="http://schemas.microsoft.com/office/drawing/2014/main" id="{65EEFE4B-85D5-81F7-3857-BCFDAAB1EA31}"/>
              </a:ext>
            </a:extLst>
          </p:cNvPr>
          <p:cNvPicPr>
            <a:picLocks noChangeAspect="1"/>
          </p:cNvPicPr>
          <p:nvPr/>
        </p:nvPicPr>
        <p:blipFill>
          <a:blip r:embed="rId3"/>
          <a:stretch>
            <a:fillRect/>
          </a:stretch>
        </p:blipFill>
        <p:spPr>
          <a:xfrm>
            <a:off x="1905000" y="1457232"/>
            <a:ext cx="7659835" cy="3592419"/>
          </a:xfrm>
          <a:prstGeom prst="rect">
            <a:avLst/>
          </a:prstGeom>
        </p:spPr>
      </p:pic>
      <p:pic>
        <p:nvPicPr>
          <p:cNvPr id="6" name="Picture 5">
            <a:extLst>
              <a:ext uri="{FF2B5EF4-FFF2-40B4-BE49-F238E27FC236}">
                <a16:creationId xmlns:a16="http://schemas.microsoft.com/office/drawing/2014/main" id="{5D0F0A53-477F-53C7-7C5C-5758544D7DAD}"/>
              </a:ext>
            </a:extLst>
          </p:cNvPr>
          <p:cNvPicPr>
            <a:picLocks noChangeAspect="1"/>
          </p:cNvPicPr>
          <p:nvPr/>
        </p:nvPicPr>
        <p:blipFill>
          <a:blip r:embed="rId4"/>
          <a:stretch>
            <a:fillRect/>
          </a:stretch>
        </p:blipFill>
        <p:spPr>
          <a:xfrm>
            <a:off x="10177160" y="1458933"/>
            <a:ext cx="7296308" cy="3548559"/>
          </a:xfrm>
          <a:prstGeom prst="rect">
            <a:avLst/>
          </a:prstGeom>
        </p:spPr>
      </p:pic>
      <p:pic>
        <p:nvPicPr>
          <p:cNvPr id="12" name="Picture 11">
            <a:extLst>
              <a:ext uri="{FF2B5EF4-FFF2-40B4-BE49-F238E27FC236}">
                <a16:creationId xmlns:a16="http://schemas.microsoft.com/office/drawing/2014/main" id="{20451257-BFA8-9B92-82DB-43686199495A}"/>
              </a:ext>
            </a:extLst>
          </p:cNvPr>
          <p:cNvPicPr>
            <a:picLocks noChangeAspect="1"/>
          </p:cNvPicPr>
          <p:nvPr/>
        </p:nvPicPr>
        <p:blipFill>
          <a:blip r:embed="rId5"/>
          <a:stretch>
            <a:fillRect/>
          </a:stretch>
        </p:blipFill>
        <p:spPr>
          <a:xfrm>
            <a:off x="1903646" y="6039365"/>
            <a:ext cx="7659835" cy="3336958"/>
          </a:xfrm>
          <a:prstGeom prst="rect">
            <a:avLst/>
          </a:prstGeom>
        </p:spPr>
      </p:pic>
      <p:sp>
        <p:nvSpPr>
          <p:cNvPr id="14" name="TextBox 13">
            <a:extLst>
              <a:ext uri="{FF2B5EF4-FFF2-40B4-BE49-F238E27FC236}">
                <a16:creationId xmlns:a16="http://schemas.microsoft.com/office/drawing/2014/main" id="{3D9B8BDA-8499-090D-94E0-6A024436088A}"/>
              </a:ext>
            </a:extLst>
          </p:cNvPr>
          <p:cNvSpPr txBox="1"/>
          <p:nvPr/>
        </p:nvSpPr>
        <p:spPr>
          <a:xfrm>
            <a:off x="10393087" y="5916901"/>
            <a:ext cx="7454682" cy="3970318"/>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Admin Dashboard provides a </a:t>
            </a:r>
            <a:r>
              <a:rPr lang="en-US" sz="2800" b="1" dirty="0">
                <a:latin typeface="Times New Roman" panose="02020603050405020304" pitchFamily="18" charset="0"/>
                <a:cs typeface="Times New Roman" panose="02020603050405020304" pitchFamily="18" charset="0"/>
              </a:rPr>
              <a:t>complete platform overview</a:t>
            </a:r>
            <a:r>
              <a:rPr lang="en-US" sz="2800" dirty="0">
                <a:latin typeface="Times New Roman" panose="02020603050405020304" pitchFamily="18" charset="0"/>
                <a:cs typeface="Times New Roman" panose="02020603050405020304" pitchFamily="18" charset="0"/>
              </a:rPr>
              <a:t> with 8 stat cards showing total users, students, employers, jobs, applications, shortlisted, pending, and rejected counts. It features </a:t>
            </a:r>
            <a:r>
              <a:rPr lang="en-US" sz="2800" b="1" dirty="0">
                <a:latin typeface="Times New Roman" panose="02020603050405020304" pitchFamily="18" charset="0"/>
                <a:cs typeface="Times New Roman" panose="02020603050405020304" pitchFamily="18" charset="0"/>
              </a:rPr>
              <a:t>4 Chart.js charts</a:t>
            </a:r>
            <a:r>
              <a:rPr lang="en-US" sz="2800" dirty="0">
                <a:latin typeface="Times New Roman" panose="02020603050405020304" pitchFamily="18" charset="0"/>
                <a:cs typeface="Times New Roman" panose="02020603050405020304" pitchFamily="18" charset="0"/>
              </a:rPr>
              <a:t> — User Distribution, Application Status, Jobs Overview, and Platform Summary — along with full tables for all users, jobs, and applications with a </a:t>
            </a:r>
            <a:r>
              <a:rPr lang="en-US" sz="2800" b="1" dirty="0">
                <a:latin typeface="Times New Roman" panose="02020603050405020304" pitchFamily="18" charset="0"/>
                <a:cs typeface="Times New Roman" panose="02020603050405020304" pitchFamily="18" charset="0"/>
              </a:rPr>
              <a:t> Delete User</a:t>
            </a:r>
            <a:r>
              <a:rPr lang="en-US" sz="2800" dirty="0">
                <a:latin typeface="Times New Roman" panose="02020603050405020304" pitchFamily="18" charset="0"/>
                <a:cs typeface="Times New Roman" panose="02020603050405020304" pitchFamily="18" charset="0"/>
              </a:rPr>
              <a:t> feature.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319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9A921F7-CC1B-6BBD-A647-DF37CF91CA6D}"/>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FEE9104-6556-8A62-3910-2CF907E2B06C}"/>
              </a:ext>
            </a:extLst>
          </p:cNvPr>
          <p:cNvGrpSpPr/>
          <p:nvPr/>
        </p:nvGrpSpPr>
        <p:grpSpPr>
          <a:xfrm>
            <a:off x="268131" y="1215520"/>
            <a:ext cx="992463" cy="992463"/>
            <a:chOff x="0" y="0"/>
            <a:chExt cx="812800" cy="812800"/>
          </a:xfrm>
        </p:grpSpPr>
        <p:sp>
          <p:nvSpPr>
            <p:cNvPr id="8" name="Freeform 8">
              <a:extLst>
                <a:ext uri="{FF2B5EF4-FFF2-40B4-BE49-F238E27FC236}">
                  <a16:creationId xmlns:a16="http://schemas.microsoft.com/office/drawing/2014/main" id="{D2D40C68-6D70-5C35-6B50-9336E615E3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97F31319-5A40-BF0C-EDB1-23FCC34C6D5E}"/>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8(F)</a:t>
              </a:r>
            </a:p>
          </p:txBody>
        </p:sp>
      </p:grpSp>
      <p:sp>
        <p:nvSpPr>
          <p:cNvPr id="34" name="Freeform 34">
            <a:extLst>
              <a:ext uri="{FF2B5EF4-FFF2-40B4-BE49-F238E27FC236}">
                <a16:creationId xmlns:a16="http://schemas.microsoft.com/office/drawing/2014/main" id="{D87FCA4B-4DF1-6F00-64AF-88E3884D4E2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F29A9454-38F5-842E-2BA2-AF9F3F79A101}"/>
              </a:ext>
            </a:extLst>
          </p:cNvPr>
          <p:cNvGrpSpPr/>
          <p:nvPr/>
        </p:nvGrpSpPr>
        <p:grpSpPr>
          <a:xfrm>
            <a:off x="12512607" y="-46121"/>
            <a:ext cx="10994424" cy="10994424"/>
            <a:chOff x="0" y="0"/>
            <a:chExt cx="812800" cy="812800"/>
          </a:xfrm>
        </p:grpSpPr>
        <p:sp>
          <p:nvSpPr>
            <p:cNvPr id="36" name="Freeform 36">
              <a:extLst>
                <a:ext uri="{FF2B5EF4-FFF2-40B4-BE49-F238E27FC236}">
                  <a16:creationId xmlns:a16="http://schemas.microsoft.com/office/drawing/2014/main" id="{F7322F9B-07E8-92FA-4A9F-312C5A221B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00341DCA-0924-067B-250C-C5305B355D6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169FA57-CBED-C4B8-9AB0-ECE4322F07F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A1DCD63-40CF-C5C8-9345-79846B4F759F}"/>
              </a:ext>
            </a:extLst>
          </p:cNvPr>
          <p:cNvPicPr>
            <a:picLocks noChangeAspect="1"/>
          </p:cNvPicPr>
          <p:nvPr/>
        </p:nvPicPr>
        <p:blipFill>
          <a:blip r:embed="rId3"/>
          <a:stretch>
            <a:fillRect/>
          </a:stretch>
        </p:blipFill>
        <p:spPr>
          <a:xfrm>
            <a:off x="1260593" y="1514527"/>
            <a:ext cx="6986729" cy="5076774"/>
          </a:xfrm>
          <a:prstGeom prst="rect">
            <a:avLst/>
          </a:prstGeom>
        </p:spPr>
      </p:pic>
      <p:pic>
        <p:nvPicPr>
          <p:cNvPr id="12" name="Picture 11">
            <a:extLst>
              <a:ext uri="{FF2B5EF4-FFF2-40B4-BE49-F238E27FC236}">
                <a16:creationId xmlns:a16="http://schemas.microsoft.com/office/drawing/2014/main" id="{6D205270-2794-281A-0D65-7B6CFBA9FC1D}"/>
              </a:ext>
            </a:extLst>
          </p:cNvPr>
          <p:cNvPicPr>
            <a:picLocks noChangeAspect="1"/>
          </p:cNvPicPr>
          <p:nvPr/>
        </p:nvPicPr>
        <p:blipFill>
          <a:blip r:embed="rId4"/>
          <a:stretch>
            <a:fillRect/>
          </a:stretch>
        </p:blipFill>
        <p:spPr>
          <a:xfrm>
            <a:off x="1178060" y="6920107"/>
            <a:ext cx="7889740" cy="3118691"/>
          </a:xfrm>
          <a:prstGeom prst="rect">
            <a:avLst/>
          </a:prstGeom>
        </p:spPr>
      </p:pic>
      <p:pic>
        <p:nvPicPr>
          <p:cNvPr id="14" name="Picture 13">
            <a:extLst>
              <a:ext uri="{FF2B5EF4-FFF2-40B4-BE49-F238E27FC236}">
                <a16:creationId xmlns:a16="http://schemas.microsoft.com/office/drawing/2014/main" id="{B4603285-74A3-9964-C62B-D68B8D9063E9}"/>
              </a:ext>
            </a:extLst>
          </p:cNvPr>
          <p:cNvPicPr>
            <a:picLocks noChangeAspect="1"/>
          </p:cNvPicPr>
          <p:nvPr/>
        </p:nvPicPr>
        <p:blipFill>
          <a:blip r:embed="rId5"/>
          <a:stretch>
            <a:fillRect/>
          </a:stretch>
        </p:blipFill>
        <p:spPr>
          <a:xfrm>
            <a:off x="8612678" y="1502703"/>
            <a:ext cx="7465521" cy="5076774"/>
          </a:xfrm>
          <a:prstGeom prst="rect">
            <a:avLst/>
          </a:prstGeom>
        </p:spPr>
      </p:pic>
      <p:sp>
        <p:nvSpPr>
          <p:cNvPr id="16" name="TextBox 15">
            <a:extLst>
              <a:ext uri="{FF2B5EF4-FFF2-40B4-BE49-F238E27FC236}">
                <a16:creationId xmlns:a16="http://schemas.microsoft.com/office/drawing/2014/main" id="{C54A3CCF-CD82-BED6-1E99-E250AFC3210E}"/>
              </a:ext>
            </a:extLst>
          </p:cNvPr>
          <p:cNvSpPr txBox="1"/>
          <p:nvPr/>
        </p:nvSpPr>
        <p:spPr>
          <a:xfrm>
            <a:off x="9380277" y="6969356"/>
            <a:ext cx="8608521" cy="1569660"/>
          </a:xfrm>
          <a:prstGeom prst="rect">
            <a:avLst/>
          </a:prstGeom>
          <a:noFill/>
        </p:spPr>
        <p:txBody>
          <a:bodyPr wrap="square">
            <a:spAutoFit/>
          </a:bodyPr>
          <a:lstStyle/>
          <a:p>
            <a:pPr marL="457200" indent="-4572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Chatbot</a:t>
            </a:r>
            <a:r>
              <a:rPr lang="en-US" sz="2400" dirty="0">
                <a:latin typeface="Times New Roman" panose="02020603050405020304" pitchFamily="18" charset="0"/>
                <a:cs typeface="Times New Roman" panose="02020603050405020304" pitchFamily="18" charset="0"/>
              </a:rPr>
              <a:t> floating button appears on every page providing instant assistance with job search tips, resume advice, interview preparation, and platform guidance through natural language conversation.</a:t>
            </a:r>
            <a:endParaRPr lang="en-IN" sz="24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B902B50-1788-3327-499B-97159DBACB71}"/>
              </a:ext>
            </a:extLst>
          </p:cNvPr>
          <p:cNvSpPr txBox="1"/>
          <p:nvPr/>
        </p:nvSpPr>
        <p:spPr>
          <a:xfrm>
            <a:off x="9380277" y="8492675"/>
            <a:ext cx="8303721" cy="1569660"/>
          </a:xfrm>
          <a:prstGeom prst="rect">
            <a:avLst/>
          </a:prstGeom>
          <a:noFill/>
        </p:spPr>
        <p:txBody>
          <a:bodyPr wrap="square">
            <a:spAutoFit/>
          </a:bodyPr>
          <a:lstStyle/>
          <a:p>
            <a:pPr marL="457200" indent="-4572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future work extension of </a:t>
            </a:r>
            <a:r>
              <a:rPr lang="en-US" sz="2400" dirty="0" err="1">
                <a:latin typeface="Times New Roman" panose="02020603050405020304" pitchFamily="18" charset="0"/>
                <a:cs typeface="Times New Roman" panose="02020603050405020304" pitchFamily="18" charset="0"/>
              </a:rPr>
              <a:t>JobSpark</a:t>
            </a:r>
            <a:r>
              <a:rPr lang="en-US" sz="2400" dirty="0">
                <a:latin typeface="Times New Roman" panose="02020603050405020304" pitchFamily="18" charset="0"/>
                <a:cs typeface="Times New Roman" panose="02020603050405020304" pitchFamily="18" charset="0"/>
              </a:rPr>
              <a:t>. It uses the Haversine formula the same mathematical formula used by Google Maps to calculate real-world distance between the user's GPS coordinates and the job location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575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C5BE98B-2ECB-1392-72CC-B6DA76EEE744}"/>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46DB1377-E7D9-AB8E-142A-A99607CF3DCA}"/>
              </a:ext>
            </a:extLst>
          </p:cNvPr>
          <p:cNvGrpSpPr/>
          <p:nvPr/>
        </p:nvGrpSpPr>
        <p:grpSpPr>
          <a:xfrm>
            <a:off x="494368" y="1491265"/>
            <a:ext cx="992463" cy="992463"/>
            <a:chOff x="0" y="0"/>
            <a:chExt cx="812800" cy="812800"/>
          </a:xfrm>
        </p:grpSpPr>
        <p:sp>
          <p:nvSpPr>
            <p:cNvPr id="8" name="Freeform 8">
              <a:extLst>
                <a:ext uri="{FF2B5EF4-FFF2-40B4-BE49-F238E27FC236}">
                  <a16:creationId xmlns:a16="http://schemas.microsoft.com/office/drawing/2014/main" id="{BF46877F-8D18-F106-1633-812AA530A2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F58670A0-9311-7495-34D0-2DDDD73FBFE3}"/>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8(E)</a:t>
              </a:r>
            </a:p>
          </p:txBody>
        </p:sp>
      </p:grpSp>
      <p:sp>
        <p:nvSpPr>
          <p:cNvPr id="34" name="Freeform 34">
            <a:extLst>
              <a:ext uri="{FF2B5EF4-FFF2-40B4-BE49-F238E27FC236}">
                <a16:creationId xmlns:a16="http://schemas.microsoft.com/office/drawing/2014/main" id="{1063026B-2193-E77D-69BF-ACAB548B457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5492328F-6A12-D16C-94AB-A0CE8F95BD16}"/>
              </a:ext>
            </a:extLst>
          </p:cNvPr>
          <p:cNvGrpSpPr/>
          <p:nvPr/>
        </p:nvGrpSpPr>
        <p:grpSpPr>
          <a:xfrm>
            <a:off x="12512607" y="-46121"/>
            <a:ext cx="10994424" cy="10994424"/>
            <a:chOff x="0" y="0"/>
            <a:chExt cx="812800" cy="812800"/>
          </a:xfrm>
        </p:grpSpPr>
        <p:sp>
          <p:nvSpPr>
            <p:cNvPr id="36" name="Freeform 36">
              <a:extLst>
                <a:ext uri="{FF2B5EF4-FFF2-40B4-BE49-F238E27FC236}">
                  <a16:creationId xmlns:a16="http://schemas.microsoft.com/office/drawing/2014/main" id="{EF0E68C6-E85E-105E-84F8-663BDE7564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B31306F0-FD9D-F714-91D2-8F719D317AE6}"/>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D2D648F-94CA-8DD7-1BC4-A28DE1A52751}"/>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8642D1B2-0415-3591-78BC-B806A96FFE0E}"/>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2C3E07F3-6261-B1B4-90E5-45C4F8098DD8}"/>
              </a:ext>
            </a:extLst>
          </p:cNvPr>
          <p:cNvSpPr txBox="1"/>
          <p:nvPr/>
        </p:nvSpPr>
        <p:spPr>
          <a:xfrm>
            <a:off x="1486831" y="8476077"/>
            <a:ext cx="16535400" cy="1384995"/>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It is used in </a:t>
            </a:r>
            <a:r>
              <a:rPr lang="en-US" sz="2800" b="1" dirty="0">
                <a:latin typeface="Times New Roman" panose="02020603050405020304" pitchFamily="18" charset="0"/>
                <a:cs typeface="Times New Roman" panose="02020603050405020304" pitchFamily="18" charset="0"/>
              </a:rPr>
              <a:t>MySQL</a:t>
            </a:r>
            <a:r>
              <a:rPr lang="en-US" sz="2800" dirty="0">
                <a:latin typeface="Times New Roman" panose="02020603050405020304" pitchFamily="18" charset="0"/>
                <a:cs typeface="Times New Roman" panose="02020603050405020304" pitchFamily="18" charset="0"/>
              </a:rPr>
              <a:t> to handle backend data of the system. </a:t>
            </a:r>
          </a:p>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SQL supports operations like </a:t>
            </a:r>
            <a:r>
              <a:rPr lang="en-US" sz="2800" b="1" dirty="0">
                <a:latin typeface="Times New Roman" panose="02020603050405020304" pitchFamily="18" charset="0"/>
                <a:cs typeface="Times New Roman" panose="02020603050405020304" pitchFamily="18" charset="0"/>
              </a:rPr>
              <a:t>INSERT, SELECT, UPDATE, DELETE</a:t>
            </a:r>
            <a:r>
              <a:rPr lang="en-US" sz="2800" dirty="0">
                <a:latin typeface="Times New Roman" panose="02020603050405020304" pitchFamily="18" charset="0"/>
                <a:cs typeface="Times New Roman" panose="02020603050405020304" pitchFamily="18" charset="0"/>
              </a:rPr>
              <a:t> (CRUD)</a:t>
            </a:r>
          </a:p>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Helps in </a:t>
            </a:r>
            <a:r>
              <a:rPr lang="en-US" sz="2800" b="1" dirty="0">
                <a:latin typeface="Times New Roman" panose="02020603050405020304" pitchFamily="18" charset="0"/>
                <a:cs typeface="Times New Roman" panose="02020603050405020304" pitchFamily="18" charset="0"/>
              </a:rPr>
              <a:t>efficient data management and querying.</a:t>
            </a:r>
            <a:endParaRPr lang="en-US"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DA2586C-734D-0E8D-0C1F-8C5342FEB71E}"/>
              </a:ext>
            </a:extLst>
          </p:cNvPr>
          <p:cNvPicPr>
            <a:picLocks noChangeAspect="1"/>
          </p:cNvPicPr>
          <p:nvPr/>
        </p:nvPicPr>
        <p:blipFill>
          <a:blip r:embed="rId3"/>
          <a:stretch>
            <a:fillRect/>
          </a:stretch>
        </p:blipFill>
        <p:spPr>
          <a:xfrm>
            <a:off x="2209800" y="1403424"/>
            <a:ext cx="13539847" cy="6843125"/>
          </a:xfrm>
          <a:prstGeom prst="rect">
            <a:avLst/>
          </a:prstGeom>
        </p:spPr>
      </p:pic>
    </p:spTree>
    <p:extLst>
      <p:ext uri="{BB962C8B-B14F-4D97-AF65-F5344CB8AC3E}">
        <p14:creationId xmlns:p14="http://schemas.microsoft.com/office/powerpoint/2010/main" val="4065600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30A7CEBE-1DFA-A705-20BF-070CF5D07F6E}"/>
            </a:ext>
          </a:extLst>
        </p:cNvPr>
        <p:cNvGrpSpPr/>
        <p:nvPr/>
      </p:nvGrpSpPr>
      <p:grpSpPr>
        <a:xfrm>
          <a:off x="0" y="0"/>
          <a:ext cx="0" cy="0"/>
          <a:chOff x="0" y="0"/>
          <a:chExt cx="0" cy="0"/>
        </a:xfrm>
      </p:grpSpPr>
      <p:sp>
        <p:nvSpPr>
          <p:cNvPr id="34" name="Freeform 34">
            <a:extLst>
              <a:ext uri="{FF2B5EF4-FFF2-40B4-BE49-F238E27FC236}">
                <a16:creationId xmlns:a16="http://schemas.microsoft.com/office/drawing/2014/main" id="{271B1BB5-F10F-2731-058B-E13264BDC644}"/>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33E6F7E6-E420-D80D-6006-F1351FEB91F1}"/>
              </a:ext>
            </a:extLst>
          </p:cNvPr>
          <p:cNvGrpSpPr/>
          <p:nvPr/>
        </p:nvGrpSpPr>
        <p:grpSpPr>
          <a:xfrm>
            <a:off x="12512607" y="-46121"/>
            <a:ext cx="10994424" cy="10994424"/>
            <a:chOff x="0" y="0"/>
            <a:chExt cx="812800" cy="812800"/>
          </a:xfrm>
        </p:grpSpPr>
        <p:sp>
          <p:nvSpPr>
            <p:cNvPr id="36" name="Freeform 36">
              <a:extLst>
                <a:ext uri="{FF2B5EF4-FFF2-40B4-BE49-F238E27FC236}">
                  <a16:creationId xmlns:a16="http://schemas.microsoft.com/office/drawing/2014/main" id="{B244531B-9380-80EC-320E-0B0FD0BBBB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88FC5B45-54AE-4F6B-F46F-F7DA0C0B98C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0CC5DF9B-7979-B455-CC2C-B215979AE35E}"/>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SDG &amp; CPC</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03D22687-0C19-F154-FEEC-1E39EF6E6EA8}"/>
              </a:ext>
            </a:extLst>
          </p:cNvPr>
          <p:cNvSpPr txBox="1"/>
          <p:nvPr/>
        </p:nvSpPr>
        <p:spPr>
          <a:xfrm>
            <a:off x="1262626" y="2267916"/>
            <a:ext cx="15082325" cy="6124754"/>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 SDG (Sustainable Development Goal)</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Title:</a:t>
            </a:r>
            <a:r>
              <a:rPr lang="en-US" sz="2800" dirty="0">
                <a:latin typeface="Times New Roman" panose="02020603050405020304" pitchFamily="18" charset="0"/>
                <a:cs typeface="Times New Roman" panose="02020603050405020304" pitchFamily="18" charset="0"/>
              </a:rPr>
              <a:t> SDG 8 – Decent Work and Economic Growth</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Promotes employment opportunities through a centralized job platform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Bridges gap between job seekers and employers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Supports fair and transparent recruitment process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Enhances economic growth by improving workforce accessibility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Encourages digital transformation in hiring systems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CPC (Cyber Practices / Professional Conduct)</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Ensures </a:t>
            </a:r>
            <a:r>
              <a:rPr lang="en-US" sz="2800" b="1" dirty="0">
                <a:latin typeface="Times New Roman" panose="02020603050405020304" pitchFamily="18" charset="0"/>
                <a:cs typeface="Times New Roman" panose="02020603050405020304" pitchFamily="18" charset="0"/>
              </a:rPr>
              <a:t>data privacy and security</a:t>
            </a:r>
            <a:r>
              <a:rPr lang="en-US" sz="2800" dirty="0">
                <a:latin typeface="Times New Roman" panose="02020603050405020304" pitchFamily="18" charset="0"/>
                <a:cs typeface="Times New Roman" panose="02020603050405020304" pitchFamily="18" charset="0"/>
              </a:rPr>
              <a:t> using authentication &amp; encryption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Maintains </a:t>
            </a:r>
            <a:r>
              <a:rPr lang="en-US" sz="2800" b="1" dirty="0">
                <a:latin typeface="Times New Roman" panose="02020603050405020304" pitchFamily="18" charset="0"/>
                <a:cs typeface="Times New Roman" panose="02020603050405020304" pitchFamily="18" charset="0"/>
              </a:rPr>
              <a:t>ethical use of user data</a:t>
            </a:r>
            <a:r>
              <a:rPr lang="en-US" sz="2800" dirty="0">
                <a:latin typeface="Times New Roman" panose="02020603050405020304" pitchFamily="18" charset="0"/>
                <a:cs typeface="Times New Roman" panose="02020603050405020304" pitchFamily="18" charset="0"/>
              </a:rPr>
              <a:t> (no misuse of personal information)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Implements </a:t>
            </a:r>
            <a:r>
              <a:rPr lang="en-US" sz="2800" b="1" dirty="0">
                <a:latin typeface="Times New Roman" panose="02020603050405020304" pitchFamily="18" charset="0"/>
                <a:cs typeface="Times New Roman" panose="02020603050405020304" pitchFamily="18" charset="0"/>
              </a:rPr>
              <a:t>secure login system</a:t>
            </a:r>
            <a:r>
              <a:rPr lang="en-US" sz="2800" dirty="0">
                <a:latin typeface="Times New Roman" panose="02020603050405020304" pitchFamily="18" charset="0"/>
                <a:cs typeface="Times New Roman" panose="02020603050405020304" pitchFamily="18" charset="0"/>
              </a:rPr>
              <a:t> (OTP verification &amp; password hashing)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Provides </a:t>
            </a:r>
            <a:r>
              <a:rPr lang="en-US" sz="2800" b="1" dirty="0">
                <a:latin typeface="Times New Roman" panose="02020603050405020304" pitchFamily="18" charset="0"/>
                <a:cs typeface="Times New Roman" panose="02020603050405020304" pitchFamily="18" charset="0"/>
              </a:rPr>
              <a:t>fair and unbiased job listing system</a:t>
            </a:r>
            <a:r>
              <a:rPr lang="en-US" sz="2800" dirty="0">
                <a:latin typeface="Times New Roman" panose="02020603050405020304" pitchFamily="18" charset="0"/>
                <a:cs typeface="Times New Roman" panose="02020603050405020304" pitchFamily="18" charset="0"/>
              </a:rPr>
              <a:t> </a:t>
            </a:r>
          </a:p>
          <a:p>
            <a:pPr marL="457200" indent="-457200"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Follows </a:t>
            </a:r>
            <a:r>
              <a:rPr lang="en-US" sz="2800" b="1" dirty="0">
                <a:latin typeface="Times New Roman" panose="02020603050405020304" pitchFamily="18" charset="0"/>
                <a:cs typeface="Times New Roman" panose="02020603050405020304" pitchFamily="18" charset="0"/>
              </a:rPr>
              <a:t>professional standards</a:t>
            </a:r>
            <a:r>
              <a:rPr lang="en-US" sz="2800" dirty="0">
                <a:latin typeface="Times New Roman" panose="02020603050405020304" pitchFamily="18" charset="0"/>
                <a:cs typeface="Times New Roman" panose="02020603050405020304" pitchFamily="18" charset="0"/>
              </a:rPr>
              <a:t> in system design and user interaction</a:t>
            </a:r>
          </a:p>
        </p:txBody>
      </p:sp>
      <p:sp>
        <p:nvSpPr>
          <p:cNvPr id="5" name="TextBox 4">
            <a:extLst>
              <a:ext uri="{FF2B5EF4-FFF2-40B4-BE49-F238E27FC236}">
                <a16:creationId xmlns:a16="http://schemas.microsoft.com/office/drawing/2014/main" id="{086483CA-8DAE-4187-289F-076A54414A20}"/>
              </a:ext>
            </a:extLst>
          </p:cNvPr>
          <p:cNvSpPr txBox="1"/>
          <p:nvPr/>
        </p:nvSpPr>
        <p:spPr>
          <a:xfrm>
            <a:off x="990600" y="8191500"/>
            <a:ext cx="16535400" cy="523220"/>
          </a:xfrm>
          <a:prstGeom prst="rect">
            <a:avLst/>
          </a:prstGeom>
          <a:noFill/>
        </p:spPr>
        <p:txBody>
          <a:bodyPr wrap="square">
            <a:spAutoFit/>
          </a:bodyPr>
          <a:lstStyle/>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462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681608" y="1733816"/>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9405E7-B546-0CA7-63B4-A8368E70B40F}"/>
              </a:ext>
            </a:extLst>
          </p:cNvPr>
          <p:cNvSpPr txBox="1"/>
          <p:nvPr/>
        </p:nvSpPr>
        <p:spPr>
          <a:xfrm>
            <a:off x="2117558" y="1747853"/>
            <a:ext cx="15256042" cy="8094524"/>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ADVANTAGES:</a:t>
            </a:r>
          </a:p>
          <a:p>
            <a:pPr>
              <a:buNone/>
            </a:pPr>
            <a:endParaRPr lang="en-US" sz="3600" b="1" dirty="0">
              <a:latin typeface="Times New Roman" panose="02020603050405020304" pitchFamily="18" charset="0"/>
              <a:cs typeface="Times New Roman" panose="02020603050405020304" pitchFamily="18" charset="0"/>
            </a:endParaRP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Role-Based Access Control</a:t>
            </a:r>
            <a:r>
              <a:rPr lang="en-US" sz="2800" dirty="0">
                <a:latin typeface="Times New Roman" panose="02020603050405020304" pitchFamily="18" charset="0"/>
                <a:cs typeface="Times New Roman" panose="02020603050405020304" pitchFamily="18" charset="0"/>
              </a:rPr>
              <a:t> The system provides separate and secure dashboards for Students, Employers, and Admins ensuring each user only accesses features relevant to their role.</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Real-Time Application Tracking</a:t>
            </a:r>
            <a:r>
              <a:rPr lang="en-US" sz="2800" dirty="0">
                <a:latin typeface="Times New Roman" panose="02020603050405020304" pitchFamily="18" charset="0"/>
                <a:cs typeface="Times New Roman" panose="02020603050405020304" pitchFamily="18" charset="0"/>
              </a:rPr>
              <a:t> Students can instantly track the status of all their job applications — Pending, Shortlisted, or Rejected — without any delay or manual update.</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Powerful Search &amp; Filter System</a:t>
            </a:r>
            <a:r>
              <a:rPr lang="en-US" sz="2800" dirty="0">
                <a:latin typeface="Times New Roman" panose="02020603050405020304" pitchFamily="18" charset="0"/>
                <a:cs typeface="Times New Roman" panose="02020603050405020304" pitchFamily="18" charset="0"/>
              </a:rPr>
              <a:t> Jobs can be filtered by keyword, category, location, and experience level making it easy for students to find the most relevant opportunities quickly.</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Secure Authentication</a:t>
            </a:r>
            <a:r>
              <a:rPr lang="en-US" sz="2800" dirty="0">
                <a:latin typeface="Times New Roman" panose="02020603050405020304" pitchFamily="18" charset="0"/>
                <a:cs typeface="Times New Roman" panose="02020603050405020304" pitchFamily="18" charset="0"/>
              </a:rPr>
              <a:t> Spring Security with </a:t>
            </a:r>
            <a:r>
              <a:rPr lang="en-US" sz="2800" dirty="0" err="1">
                <a:latin typeface="Times New Roman" panose="02020603050405020304" pitchFamily="18" charset="0"/>
                <a:cs typeface="Times New Roman" panose="02020603050405020304" pitchFamily="18" charset="0"/>
              </a:rPr>
              <a:t>BCrypt</a:t>
            </a:r>
            <a:r>
              <a:rPr lang="en-US" sz="2800" dirty="0">
                <a:latin typeface="Times New Roman" panose="02020603050405020304" pitchFamily="18" charset="0"/>
                <a:cs typeface="Times New Roman" panose="02020603050405020304" pitchFamily="18" charset="0"/>
              </a:rPr>
              <a:t> password hashing ensures all user credentials are encrypted and protected from unauthorized access or data breaches.</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Resume Upload &amp; Management</a:t>
            </a:r>
            <a:r>
              <a:rPr lang="en-US" sz="2800" dirty="0">
                <a:latin typeface="Times New Roman" panose="02020603050405020304" pitchFamily="18" charset="0"/>
                <a:cs typeface="Times New Roman" panose="02020603050405020304" pitchFamily="18" charset="0"/>
              </a:rPr>
              <a:t> Students can upload and manage their resumes directly on the platform eliminating the need for external file sharing tools during the application process.</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Employer Control Panel</a:t>
            </a:r>
            <a:r>
              <a:rPr lang="en-US" sz="2800" dirty="0">
                <a:latin typeface="Times New Roman" panose="02020603050405020304" pitchFamily="18" charset="0"/>
                <a:cs typeface="Times New Roman" panose="02020603050405020304" pitchFamily="18" charset="0"/>
              </a:rPr>
              <a:t> Employers have full control to post, edit, and delete jobs and can efficiently manage hundreds of applicants from a single organized dashboard.</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Responsive User Interface</a:t>
            </a:r>
            <a:r>
              <a:rPr lang="en-US" sz="2800" dirty="0">
                <a:latin typeface="Times New Roman" panose="02020603050405020304" pitchFamily="18" charset="0"/>
                <a:cs typeface="Times New Roman" panose="02020603050405020304" pitchFamily="18" charset="0"/>
              </a:rPr>
              <a:t> The frontend is built with HTML5, CSS3, and </a:t>
            </a:r>
            <a:r>
              <a:rPr lang="en-US" sz="2800" dirty="0" err="1">
                <a:latin typeface="Times New Roman" panose="02020603050405020304" pitchFamily="18" charset="0"/>
                <a:cs typeface="Times New Roman" panose="02020603050405020304" pitchFamily="18" charset="0"/>
              </a:rPr>
              <a:t>Thymeleaf</a:t>
            </a:r>
            <a:r>
              <a:rPr lang="en-US" sz="2800" dirty="0">
                <a:latin typeface="Times New Roman" panose="02020603050405020304" pitchFamily="18" charset="0"/>
                <a:cs typeface="Times New Roman" panose="02020603050405020304" pitchFamily="18" charset="0"/>
              </a:rPr>
              <a:t> making it fully responsive and accessible across desktops, tablets, and mobile devices.</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Scalable Database Design</a:t>
            </a:r>
            <a:r>
              <a:rPr lang="en-US" sz="2800" dirty="0">
                <a:latin typeface="Times New Roman" panose="02020603050405020304" pitchFamily="18" charset="0"/>
                <a:cs typeface="Times New Roman" panose="02020603050405020304" pitchFamily="18" charset="0"/>
              </a:rPr>
              <a:t> The MySQL database with JPA relational mappings is designed to handle large volumes of users, jobs, and applications without performance issues.</a:t>
            </a:r>
          </a:p>
        </p:txBody>
      </p:sp>
    </p:spTree>
    <p:extLst>
      <p:ext uri="{BB962C8B-B14F-4D97-AF65-F5344CB8AC3E}">
        <p14:creationId xmlns:p14="http://schemas.microsoft.com/office/powerpoint/2010/main" val="1838976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40BB6F6-E697-3C4F-B0A6-785B6F19DE33}"/>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1B12367-7905-8557-0481-2C1048987317}"/>
              </a:ext>
            </a:extLst>
          </p:cNvPr>
          <p:cNvGrpSpPr/>
          <p:nvPr/>
        </p:nvGrpSpPr>
        <p:grpSpPr>
          <a:xfrm>
            <a:off x="1051818" y="1562100"/>
            <a:ext cx="992463" cy="992463"/>
            <a:chOff x="0" y="0"/>
            <a:chExt cx="812800" cy="812800"/>
          </a:xfrm>
        </p:grpSpPr>
        <p:sp>
          <p:nvSpPr>
            <p:cNvPr id="6" name="Freeform 6">
              <a:extLst>
                <a:ext uri="{FF2B5EF4-FFF2-40B4-BE49-F238E27FC236}">
                  <a16:creationId xmlns:a16="http://schemas.microsoft.com/office/drawing/2014/main" id="{530AE129-513F-20A2-B3C3-1D6135F77A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C6091405-CF31-3636-6419-567EA5A76F3F}"/>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sp>
        <p:nvSpPr>
          <p:cNvPr id="32" name="Freeform 32">
            <a:extLst>
              <a:ext uri="{FF2B5EF4-FFF2-40B4-BE49-F238E27FC236}">
                <a16:creationId xmlns:a16="http://schemas.microsoft.com/office/drawing/2014/main" id="{3F86786D-92B8-A8C3-90E3-E8165A1E1ACC}"/>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32FADC13-1152-B9FA-CED5-DF89125C131F}"/>
              </a:ext>
            </a:extLst>
          </p:cNvPr>
          <p:cNvGrpSpPr/>
          <p:nvPr/>
        </p:nvGrpSpPr>
        <p:grpSpPr>
          <a:xfrm>
            <a:off x="12954000" y="-190500"/>
            <a:ext cx="10994424" cy="10994424"/>
            <a:chOff x="0" y="0"/>
            <a:chExt cx="812800" cy="812800"/>
          </a:xfrm>
        </p:grpSpPr>
        <p:sp>
          <p:nvSpPr>
            <p:cNvPr id="45" name="Freeform 45">
              <a:extLst>
                <a:ext uri="{FF2B5EF4-FFF2-40B4-BE49-F238E27FC236}">
                  <a16:creationId xmlns:a16="http://schemas.microsoft.com/office/drawing/2014/main" id="{E84421D9-873B-6AA7-5CD8-11699BCEEE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2356BC21-86FC-83EF-D698-1741160A853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00642EFF-D1F5-D9DB-26DD-1AF50C027F8A}"/>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4A351ED-BFBB-3E66-8766-6EC1E9878FB1}"/>
              </a:ext>
            </a:extLst>
          </p:cNvPr>
          <p:cNvSpPr txBox="1"/>
          <p:nvPr/>
        </p:nvSpPr>
        <p:spPr>
          <a:xfrm>
            <a:off x="2286000" y="1562100"/>
            <a:ext cx="15531087" cy="4524315"/>
          </a:xfrm>
          <a:prstGeom prst="rect">
            <a:avLst/>
          </a:prstGeom>
          <a:noFill/>
        </p:spPr>
        <p:txBody>
          <a:bodyPr wrap="square">
            <a:spAutoFit/>
          </a:bodyPr>
          <a:lstStyle/>
          <a:p>
            <a:pPr algn="just">
              <a:buNone/>
            </a:pPr>
            <a:r>
              <a:rPr lang="en-US" sz="3200" b="1" dirty="0">
                <a:latin typeface="Times New Roman" panose="02020603050405020304" pitchFamily="18" charset="0"/>
                <a:cs typeface="Times New Roman" panose="02020603050405020304" pitchFamily="18" charset="0"/>
              </a:rPr>
              <a:t>LIMITATIONS:</a:t>
            </a:r>
          </a:p>
          <a:p>
            <a:pPr algn="just">
              <a:buNone/>
            </a:pPr>
            <a:endParaRPr lang="en-US" sz="3200" b="1" dirty="0">
              <a:latin typeface="Times New Roman" panose="02020603050405020304" pitchFamily="18" charset="0"/>
              <a:cs typeface="Times New Roman" panose="02020603050405020304" pitchFamily="18" charset="0"/>
            </a:endParaRP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No Payment Gateway</a:t>
            </a:r>
            <a:r>
              <a:rPr lang="en-US" sz="2800" dirty="0">
                <a:latin typeface="Times New Roman" panose="02020603050405020304" pitchFamily="18" charset="0"/>
                <a:cs typeface="Times New Roman" panose="02020603050405020304" pitchFamily="18" charset="0"/>
              </a:rPr>
              <a:t> The platform does not support any premium job posting plans or subscription-based features for employers as no payment integration is implemented.</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No AI-Based Job Recommendations</a:t>
            </a:r>
            <a:r>
              <a:rPr lang="en-US" sz="2800" dirty="0">
                <a:latin typeface="Times New Roman" panose="02020603050405020304" pitchFamily="18" charset="0"/>
                <a:cs typeface="Times New Roman" panose="02020603050405020304" pitchFamily="18" charset="0"/>
              </a:rPr>
              <a:t> The job recommendation system is basic and does not use machine learning or AI algorithms to match students with the most suitable job listings.</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No Mobile App</a:t>
            </a:r>
            <a:r>
              <a:rPr lang="en-US" sz="2800" dirty="0">
                <a:latin typeface="Times New Roman" panose="02020603050405020304" pitchFamily="18" charset="0"/>
                <a:cs typeface="Times New Roman" panose="02020603050405020304" pitchFamily="18" charset="0"/>
              </a:rPr>
              <a:t> The platform is only available as a web application and does not have a dedicated Android or iOS mobile application for on-the-go access.</a:t>
            </a:r>
          </a:p>
          <a:p>
            <a:pPr marL="457200" indent="-457200" algn="just">
              <a:buFont typeface="Courier New" panose="02070309020205020404" pitchFamily="49" charset="0"/>
              <a:buChar char="o"/>
            </a:pPr>
            <a:r>
              <a:rPr lang="en-US" sz="2800" b="1" dirty="0">
                <a:latin typeface="Times New Roman" panose="02020603050405020304" pitchFamily="18" charset="0"/>
                <a:cs typeface="Times New Roman" panose="02020603050405020304" pitchFamily="18" charset="0"/>
              </a:rPr>
              <a:t>Local Deployment Only</a:t>
            </a:r>
            <a:r>
              <a:rPr lang="en-US" sz="2800" dirty="0">
                <a:latin typeface="Times New Roman" panose="02020603050405020304" pitchFamily="18" charset="0"/>
                <a:cs typeface="Times New Roman" panose="02020603050405020304" pitchFamily="18" charset="0"/>
              </a:rPr>
              <a:t> The application is configured for localhost testing only and requires additional setup like cloud hosting and domain configuration for live deployment.</a:t>
            </a:r>
          </a:p>
        </p:txBody>
      </p:sp>
    </p:spTree>
    <p:extLst>
      <p:ext uri="{BB962C8B-B14F-4D97-AF65-F5344CB8AC3E}">
        <p14:creationId xmlns:p14="http://schemas.microsoft.com/office/powerpoint/2010/main" val="2044403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7447C4AD-849A-2BCA-DBC3-94D8D543608C}"/>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8A27833B-BC71-A821-D30A-E86A8884C63C}"/>
              </a:ext>
            </a:extLst>
          </p:cNvPr>
          <p:cNvGrpSpPr/>
          <p:nvPr/>
        </p:nvGrpSpPr>
        <p:grpSpPr>
          <a:xfrm>
            <a:off x="759041" y="2317640"/>
            <a:ext cx="992463" cy="992463"/>
            <a:chOff x="0" y="0"/>
            <a:chExt cx="812800" cy="812800"/>
          </a:xfrm>
        </p:grpSpPr>
        <p:sp>
          <p:nvSpPr>
            <p:cNvPr id="6" name="Freeform 6">
              <a:extLst>
                <a:ext uri="{FF2B5EF4-FFF2-40B4-BE49-F238E27FC236}">
                  <a16:creationId xmlns:a16="http://schemas.microsoft.com/office/drawing/2014/main" id="{53CB755C-A285-0760-E420-F3256BB694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ADE7F69D-A905-9141-3071-01E6D2E1611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10</a:t>
              </a:r>
            </a:p>
          </p:txBody>
        </p:sp>
      </p:grpSp>
      <p:sp>
        <p:nvSpPr>
          <p:cNvPr id="32" name="Freeform 32">
            <a:extLst>
              <a:ext uri="{FF2B5EF4-FFF2-40B4-BE49-F238E27FC236}">
                <a16:creationId xmlns:a16="http://schemas.microsoft.com/office/drawing/2014/main" id="{CEE2C934-9EC0-758F-A183-061C27A44DE6}"/>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8B04746A-907D-56D6-A368-F837ECFC844E}"/>
              </a:ext>
            </a:extLst>
          </p:cNvPr>
          <p:cNvGrpSpPr/>
          <p:nvPr/>
        </p:nvGrpSpPr>
        <p:grpSpPr>
          <a:xfrm>
            <a:off x="12954000" y="-190500"/>
            <a:ext cx="10994424" cy="10994424"/>
            <a:chOff x="0" y="0"/>
            <a:chExt cx="812800" cy="812800"/>
          </a:xfrm>
        </p:grpSpPr>
        <p:sp>
          <p:nvSpPr>
            <p:cNvPr id="45" name="Freeform 45">
              <a:extLst>
                <a:ext uri="{FF2B5EF4-FFF2-40B4-BE49-F238E27FC236}">
                  <a16:creationId xmlns:a16="http://schemas.microsoft.com/office/drawing/2014/main" id="{C425B4A4-1720-C863-32E1-A33F372CBD4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39828F3E-F440-6E8C-D82D-F5591F5CD56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24ECCF7F-D3DD-008A-695A-E55586C4146F}"/>
              </a:ext>
            </a:extLst>
          </p:cNvPr>
          <p:cNvSpPr txBox="1"/>
          <p:nvPr/>
        </p:nvSpPr>
        <p:spPr>
          <a:xfrm>
            <a:off x="190500" y="290493"/>
            <a:ext cx="17907000" cy="830997"/>
          </a:xfrm>
          <a:prstGeom prst="rect">
            <a:avLst/>
          </a:prstGeom>
          <a:noFill/>
        </p:spPr>
        <p:txBody>
          <a:bodyPr wrap="square" rtlCol="0">
            <a:spAutoFit/>
          </a:bodyPr>
          <a:lstStyle/>
          <a:p>
            <a:pPr algn="ctr"/>
            <a:r>
              <a:rPr lang="en-IN" sz="4800" b="1" dirty="0">
                <a:solidFill>
                  <a:srgbClr val="0033CC"/>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86950BC6-31FF-6FB4-4BDB-0582B7E4BD48}"/>
              </a:ext>
            </a:extLst>
          </p:cNvPr>
          <p:cNvSpPr txBox="1"/>
          <p:nvPr/>
        </p:nvSpPr>
        <p:spPr>
          <a:xfrm>
            <a:off x="2286000" y="2317640"/>
            <a:ext cx="15531087" cy="6500306"/>
          </a:xfrm>
          <a:prstGeom prst="rect">
            <a:avLst/>
          </a:prstGeom>
          <a:noFill/>
        </p:spPr>
        <p:txBody>
          <a:bodyPr wrap="square">
            <a:spAutoFit/>
          </a:bodyPr>
          <a:lstStyle/>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“Online Job Portal System,” International Journal of Computer Science and Information Technologies (IJCSIT), Vol. 5, Issue 2, 2019 </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“Web-Based Recruitment System,” International Journal of Advanced Research in Computer Science (IJARCS), Vol. 8, Issue 3, 2020 </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“Design and Development of Job Portal,” International Journal of Engineering Research &amp; Technology (IJERT), Vol. 9, Issue 6, 2021</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“E-Recruitment System using Web Technologies,” International Journal of Scientific &amp; Technology Research (IJSTR), Vol. 10, Issue 5, 2021</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“Sustainable Development Goal 8: Decent Work and Economic Growth,” United Nations, 2023</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“Online Recruitment System Using Web Application,” International Journal of Emerging Technologies in Engineering Research (IJETER), Vol. 7, Issue 4, 2019</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 Study on E-Recruitment System and Its Advantages,” International Journal of Research in Engineering and Technology (IJRET), Vol. 6, Issue 5, 2018 </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“Job Portal System for Efficient Hiring Process,” International Journal of Innovative Research in Computer Science (IJIRCS), Vol. 8, Issue 2, 2020</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“Web-Based Job Portal with Resume Management System,” International Journal of Computer Applications (IJCA), Vol. 177, Issue 10, 2019</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“Secure Authentication in Web Applications Using OTP,” International Journal of Advanced Computer Science and Applications (IJACSA), Vol. 11, Issue 3, 2020</a:t>
            </a:r>
          </a:p>
          <a:p>
            <a:pPr marL="342900" lvl="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“Role-Based Access Control in Web Systems,” International Journal of Information Security Science (IJISS), Vol. 9, Issue 1, 2020</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809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3258800" y="-190500"/>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756</TotalTime>
  <Words>2627</Words>
  <Application>Microsoft Office PowerPoint</Application>
  <PresentationFormat>Custom</PresentationFormat>
  <Paragraphs>310</Paragraphs>
  <Slides>25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Courier New</vt:lpstr>
      <vt:lpstr>Times New Roman</vt:lpstr>
      <vt:lpstr>Gotham</vt:lpstr>
      <vt:lpstr>Cambria</vt:lpstr>
      <vt:lpstr>Bookman Old Style</vt:lpstr>
      <vt:lpstr>Arial</vt:lpstr>
      <vt:lpstr>Gotham Bold Italics</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NIYUKI NIVETHITHA</cp:lastModifiedBy>
  <cp:revision>21</cp:revision>
  <dcterms:created xsi:type="dcterms:W3CDTF">2006-08-16T00:00:00Z</dcterms:created>
  <dcterms:modified xsi:type="dcterms:W3CDTF">2026-05-05T16:16:11Z</dcterms:modified>
  <dc:identifier>DAHCaYqJ9OU</dc:identifier>
</cp:coreProperties>
</file>